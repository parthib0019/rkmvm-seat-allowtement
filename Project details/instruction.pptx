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5"/>
  </p:notesMasterIdLst>
  <p:sldIdLst>
    <p:sldId id="256" r:id="rId2"/>
    <p:sldId id="267" r:id="rId3"/>
    <p:sldId id="257" r:id="rId4"/>
    <p:sldId id="261" r:id="rId5"/>
    <p:sldId id="258" r:id="rId6"/>
    <p:sldId id="270" r:id="rId7"/>
    <p:sldId id="272" r:id="rId8"/>
    <p:sldId id="276" r:id="rId9"/>
    <p:sldId id="279" r:id="rId10"/>
    <p:sldId id="281" r:id="rId11"/>
    <p:sldId id="307" r:id="rId12"/>
    <p:sldId id="306" r:id="rId13"/>
    <p:sldId id="266" r:id="rId14"/>
    <p:sldId id="268" r:id="rId15"/>
    <p:sldId id="275" r:id="rId16"/>
    <p:sldId id="308" r:id="rId17"/>
    <p:sldId id="259" r:id="rId18"/>
    <p:sldId id="282" r:id="rId19"/>
    <p:sldId id="305" r:id="rId20"/>
    <p:sldId id="287" r:id="rId21"/>
    <p:sldId id="288" r:id="rId22"/>
    <p:sldId id="285" r:id="rId23"/>
    <p:sldId id="274" r:id="rId24"/>
  </p:sldIdLst>
  <p:sldSz cx="9144000" cy="5143500" type="screen16x9"/>
  <p:notesSz cx="6858000" cy="9144000"/>
  <p:embeddedFontLst>
    <p:embeddedFont>
      <p:font typeface="Mongolian Baiti" panose="03000500000000000000" pitchFamily="66" charset="0"/>
      <p:regular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Montserrat ExtraBold" panose="00000900000000000000" pitchFamily="2" charset="0"/>
      <p:bold r:id="rId31"/>
      <p:boldItalic r:id="rId32"/>
    </p:embeddedFont>
    <p:embeddedFont>
      <p:font typeface="Montserrat ExtraLight" panose="00000300000000000000" pitchFamily="2" charset="0"/>
      <p:regular r:id="rId33"/>
      <p:bold r:id="rId34"/>
      <p:italic r:id="rId35"/>
      <p:boldItalic r:id="rId36"/>
    </p:embeddedFont>
    <p:embeddedFont>
      <p:font typeface="Montserrat SemiBold" panose="00000700000000000000" pitchFamily="2" charset="0"/>
      <p:bold r:id="rId37"/>
      <p:boldItalic r:id="rId38"/>
    </p:embeddedFont>
    <p:embeddedFont>
      <p:font typeface="Sora SemiBold" panose="020B0604020202020204" charset="0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7682F2-011A-42FD-8586-D915FF3ED865}" v="99" dt="2025-08-02T02:00:34.782"/>
  </p1510:revLst>
</p1510:revInfo>
</file>

<file path=ppt/tableStyles.xml><?xml version="1.0" encoding="utf-8"?>
<a:tblStyleLst xmlns:a="http://schemas.openxmlformats.org/drawingml/2006/main" def="{C55DC599-EA6B-4487-8F88-C076E7C1E7B3}">
  <a:tblStyle styleId="{C55DC599-EA6B-4487-8F88-C076E7C1E7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0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12880182330553658"/>
          <c:y val="4.583963778745423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Facial Emotion Distribution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942-43C6-A550-2F59445623E0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942-43C6-A550-2F59445623E0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942-43C6-A550-2F59445623E0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942-43C6-A550-2F59445623E0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942-43C6-A550-2F59445623E0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0942-43C6-A550-2F59445623E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Surprise</c:v>
                </c:pt>
                <c:pt idx="1">
                  <c:v>Neutral</c:v>
                </c:pt>
                <c:pt idx="2">
                  <c:v>Sad</c:v>
                </c:pt>
                <c:pt idx="3">
                  <c:v>Fear</c:v>
                </c:pt>
                <c:pt idx="4">
                  <c:v>Happy</c:v>
                </c:pt>
                <c:pt idx="5">
                  <c:v>Angry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39.700000000000003</c:v>
                </c:pt>
                <c:pt idx="1">
                  <c:v>14.9</c:v>
                </c:pt>
                <c:pt idx="2">
                  <c:v>4.5999999999999996</c:v>
                </c:pt>
                <c:pt idx="3">
                  <c:v>28.9</c:v>
                </c:pt>
                <c:pt idx="4">
                  <c:v>5.7</c:v>
                </c:pt>
                <c:pt idx="5">
                  <c:v>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942-43C6-A550-2F59445623E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cap="sq">
      <a:noFill/>
    </a:ln>
    <a:effectLst>
      <a:glow rad="63500">
        <a:schemeClr val="tx1">
          <a:alpha val="4000"/>
        </a:schemeClr>
      </a:glo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bg1"/>
                </a:solidFill>
              </a:rPr>
              <a:t>Facial</a:t>
            </a:r>
            <a:r>
              <a:rPr lang="en-US" baseline="0" dirty="0">
                <a:solidFill>
                  <a:schemeClr val="bg1"/>
                </a:solidFill>
              </a:rPr>
              <a:t> Emotion Frequency</a:t>
            </a:r>
            <a:endParaRPr lang="en-US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6"/>
                <c:pt idx="0">
                  <c:v>surprise</c:v>
                </c:pt>
                <c:pt idx="1">
                  <c:v>neutral</c:v>
                </c:pt>
                <c:pt idx="2">
                  <c:v>sad</c:v>
                </c:pt>
                <c:pt idx="3">
                  <c:v>fear</c:v>
                </c:pt>
                <c:pt idx="4">
                  <c:v>happy</c:v>
                </c:pt>
                <c:pt idx="5">
                  <c:v>angry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6"/>
                <c:pt idx="0">
                  <c:v>70</c:v>
                </c:pt>
                <c:pt idx="1">
                  <c:v>25</c:v>
                </c:pt>
                <c:pt idx="2">
                  <c:v>6</c:v>
                </c:pt>
                <c:pt idx="3">
                  <c:v>50</c:v>
                </c:pt>
                <c:pt idx="4">
                  <c:v>10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60-4219-A7A0-4E774AC732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38760320"/>
        <c:axId val="1738760800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Column1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Sheet1!$A$2:$A$8</c15:sqref>
                        </c15:formulaRef>
                      </c:ext>
                    </c:extLst>
                    <c:strCache>
                      <c:ptCount val="6"/>
                      <c:pt idx="0">
                        <c:v>surprise</c:v>
                      </c:pt>
                      <c:pt idx="1">
                        <c:v>neutral</c:v>
                      </c:pt>
                      <c:pt idx="2">
                        <c:v>sad</c:v>
                      </c:pt>
                      <c:pt idx="3">
                        <c:v>fear</c:v>
                      </c:pt>
                      <c:pt idx="4">
                        <c:v>happy</c:v>
                      </c:pt>
                      <c:pt idx="5">
                        <c:v>angry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Sheet1!$C$2:$C$8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9260-4219-A7A0-4E774AC732C8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Sheet1!$D$1</c15:sqref>
                        </c15:formulaRef>
                      </c:ext>
                    </c:extLst>
                    <c:strCache>
                      <c:ptCount val="1"/>
                      <c:pt idx="0">
                        <c:v>Column2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Sheet1!$A$2:$A$8</c15:sqref>
                        </c15:formulaRef>
                      </c:ext>
                    </c:extLst>
                    <c:strCache>
                      <c:ptCount val="6"/>
                      <c:pt idx="0">
                        <c:v>surprise</c:v>
                      </c:pt>
                      <c:pt idx="1">
                        <c:v>neutral</c:v>
                      </c:pt>
                      <c:pt idx="2">
                        <c:v>sad</c:v>
                      </c:pt>
                      <c:pt idx="3">
                        <c:v>fear</c:v>
                      </c:pt>
                      <c:pt idx="4">
                        <c:v>happy</c:v>
                      </c:pt>
                      <c:pt idx="5">
                        <c:v>angry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Sheet1!$D$2:$D$8</c15:sqref>
                        </c15:formulaRef>
                      </c:ext>
                    </c:extLst>
                    <c:numCache>
                      <c:formatCode>General</c:formatCode>
                      <c:ptCount val="6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260-4219-A7A0-4E774AC732C8}"/>
                  </c:ext>
                </c:extLst>
              </c15:ser>
            </c15:filteredBarSeries>
          </c:ext>
        </c:extLst>
      </c:barChart>
      <c:catAx>
        <c:axId val="17387603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>
                    <a:solidFill>
                      <a:schemeClr val="bg1"/>
                    </a:solidFill>
                  </a:rPr>
                  <a:t>Emotion Category</a:t>
                </a:r>
              </a:p>
            </c:rich>
          </c:tx>
          <c:layout>
            <c:manualLayout>
              <c:xMode val="edge"/>
              <c:yMode val="edge"/>
              <c:x val="0.40230679356007137"/>
              <c:y val="0.9208235007471345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8760800"/>
        <c:crosses val="autoZero"/>
        <c:auto val="1"/>
        <c:lblAlgn val="ctr"/>
        <c:lblOffset val="100"/>
        <c:noMultiLvlLbl val="0"/>
      </c:catAx>
      <c:valAx>
        <c:axId val="173876080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>
                    <a:solidFill>
                      <a:schemeClr val="bg1"/>
                    </a:solidFill>
                  </a:rPr>
                  <a:t>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8760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Performance Comparison of Emotion</a:t>
            </a:r>
            <a:endParaRPr lang="en-IN"/>
          </a:p>
        </c:rich>
      </c:tx>
      <c:layout>
        <c:manualLayout>
          <c:xMode val="edge"/>
          <c:yMode val="edge"/>
          <c:x val="0.12383298097251585"/>
          <c:y val="2.65748010900550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925698848954663E-2"/>
          <c:y val="0.25912663067094749"/>
          <c:w val="0.79107070707070704"/>
          <c:h val="0.307774559196590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MERC-PTAF</c:v>
                </c:pt>
                <c:pt idx="1">
                  <c:v>MemcoMKT</c:v>
                </c:pt>
                <c:pt idx="2">
                  <c:v>Conv-Attention-Emotion-LLAMA</c:v>
                </c:pt>
                <c:pt idx="3">
                  <c:v>OpenFace 3.0</c:v>
                </c:pt>
                <c:pt idx="4">
                  <c:v>TMNet</c:v>
                </c:pt>
                <c:pt idx="5">
                  <c:v>Proposed Method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</c:v>
                </c:pt>
                <c:pt idx="1">
                  <c:v>91.3</c:v>
                </c:pt>
                <c:pt idx="2">
                  <c:v>85.3</c:v>
                </c:pt>
                <c:pt idx="3">
                  <c:v>89.2</c:v>
                </c:pt>
                <c:pt idx="4">
                  <c:v>84.7</c:v>
                </c:pt>
                <c:pt idx="5">
                  <c:v>92.5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36-4ECA-A833-AD06ACC0A4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 (%)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MERC-PTAF</c:v>
                </c:pt>
                <c:pt idx="1">
                  <c:v>MemcoMKT</c:v>
                </c:pt>
                <c:pt idx="2">
                  <c:v>Conv-Attention-Emotion-LLAMA</c:v>
                </c:pt>
                <c:pt idx="3">
                  <c:v>OpenFace 3.0</c:v>
                </c:pt>
                <c:pt idx="4">
                  <c:v>TMNet</c:v>
                </c:pt>
                <c:pt idx="5">
                  <c:v>Proposed Method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88.5</c:v>
                </c:pt>
                <c:pt idx="1">
                  <c:v>90.2</c:v>
                </c:pt>
                <c:pt idx="2">
                  <c:v>85.8</c:v>
                </c:pt>
                <c:pt idx="3">
                  <c:v>87.4</c:v>
                </c:pt>
                <c:pt idx="4">
                  <c:v>84</c:v>
                </c:pt>
                <c:pt idx="5">
                  <c:v>91.7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36-4ECA-A833-AD06ACC0A4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7"/>
        <c:overlap val="-27"/>
        <c:axId val="1631676111"/>
        <c:axId val="1631674671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Latency (ms)</c:v>
                </c:pt>
              </c:strCache>
            </c:strRef>
          </c:tx>
          <c:spPr>
            <a:ln w="2222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MERC-PTAF</c:v>
                </c:pt>
                <c:pt idx="1">
                  <c:v>MemcoMKT</c:v>
                </c:pt>
                <c:pt idx="2">
                  <c:v>Conv-Attention-Emotion-LLAMA</c:v>
                </c:pt>
                <c:pt idx="3">
                  <c:v>OpenFace 3.0</c:v>
                </c:pt>
                <c:pt idx="4">
                  <c:v>TMNet</c:v>
                </c:pt>
                <c:pt idx="5">
                  <c:v>Proposed Method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150</c:v>
                </c:pt>
                <c:pt idx="1">
                  <c:v>140</c:v>
                </c:pt>
                <c:pt idx="2">
                  <c:v>200</c:v>
                </c:pt>
                <c:pt idx="3">
                  <c:v>130</c:v>
                </c:pt>
                <c:pt idx="4">
                  <c:v>170</c:v>
                </c:pt>
                <c:pt idx="5">
                  <c:v>120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436-4ECA-A833-AD06ACC0A4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61554783"/>
        <c:axId val="1661555743"/>
      </c:lineChart>
      <c:catAx>
        <c:axId val="16316761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1674671"/>
        <c:crosses val="autoZero"/>
        <c:auto val="1"/>
        <c:lblAlgn val="ctr"/>
        <c:lblOffset val="100"/>
        <c:noMultiLvlLbl val="0"/>
      </c:catAx>
      <c:valAx>
        <c:axId val="16316746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1676111"/>
        <c:crosses val="autoZero"/>
        <c:crossBetween val="between"/>
      </c:valAx>
      <c:valAx>
        <c:axId val="1661555743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1554783"/>
        <c:crosses val="max"/>
        <c:crossBetween val="between"/>
      </c:valAx>
      <c:catAx>
        <c:axId val="166155478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61555743"/>
        <c:auto val="1"/>
        <c:lblAlgn val="ctr"/>
        <c:lblOffset val="100"/>
        <c:noMultiLvlLbl val="0"/>
      </c:cat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000000000000001E-2"/>
          <c:y val="0.91166970017116344"/>
          <c:w val="0.90000000000000013"/>
          <c:h val="8.83302998288365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7f9262ee2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7f9262ee2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f9262ee2f_0_26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f9262ee2f_0_26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7f9262ee2f_0_24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7f9262ee2f_0_24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g7f9262ee2f_0_26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7f9262ee2f_0_26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7f9262ee2f_0_26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7f9262ee2f_0_26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7f9262ee2f_0_26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8" name="Google Shape;2068;g7f9262ee2f_0_26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g7f9262ee2f_0_26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5" name="Google Shape;2095;g7f9262ee2f_0_26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3">
          <a:extLst>
            <a:ext uri="{FF2B5EF4-FFF2-40B4-BE49-F238E27FC236}">
              <a16:creationId xmlns:a16="http://schemas.microsoft.com/office/drawing/2014/main" id="{9C0B40FB-70F2-E122-464C-6335057E2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g7f9262ee2f_0_26352:notes">
            <a:extLst>
              <a:ext uri="{FF2B5EF4-FFF2-40B4-BE49-F238E27FC236}">
                <a16:creationId xmlns:a16="http://schemas.microsoft.com/office/drawing/2014/main" id="{530A432B-46C3-85FF-AF5B-3F9CF7530D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5" name="Google Shape;2095;g7f9262ee2f_0_26352:notes">
            <a:extLst>
              <a:ext uri="{FF2B5EF4-FFF2-40B4-BE49-F238E27FC236}">
                <a16:creationId xmlns:a16="http://schemas.microsoft.com/office/drawing/2014/main" id="{9699C357-21E5-EFCE-889C-CD238A1694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9888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3">
          <a:extLst>
            <a:ext uri="{FF2B5EF4-FFF2-40B4-BE49-F238E27FC236}">
              <a16:creationId xmlns:a16="http://schemas.microsoft.com/office/drawing/2014/main" id="{141C2F31-AFDC-339A-F0B9-53EA1B76E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g7f9262ee2f_0_26352:notes">
            <a:extLst>
              <a:ext uri="{FF2B5EF4-FFF2-40B4-BE49-F238E27FC236}">
                <a16:creationId xmlns:a16="http://schemas.microsoft.com/office/drawing/2014/main" id="{41B7FDCE-A0C7-B196-DC88-DA9E46353C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5" name="Google Shape;2095;g7f9262ee2f_0_26352:notes">
            <a:extLst>
              <a:ext uri="{FF2B5EF4-FFF2-40B4-BE49-F238E27FC236}">
                <a16:creationId xmlns:a16="http://schemas.microsoft.com/office/drawing/2014/main" id="{B6EEB19C-2DD6-1D36-1A29-DF7D1C38F9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9074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7f9262ee2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7f9262ee2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7f9262ee2f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7f9262ee2f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7f9262ee2f_0_26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7f9262ee2f_0_26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DDCFBC26-F389-6684-6B9D-997E1B5D7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7f9262ee2f_0_54:notes">
            <a:extLst>
              <a:ext uri="{FF2B5EF4-FFF2-40B4-BE49-F238E27FC236}">
                <a16:creationId xmlns:a16="http://schemas.microsoft.com/office/drawing/2014/main" id="{46DA2B9D-8AA7-75E9-B240-F5CE22E93B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7f9262ee2f_0_54:notes">
            <a:extLst>
              <a:ext uri="{FF2B5EF4-FFF2-40B4-BE49-F238E27FC236}">
                <a16:creationId xmlns:a16="http://schemas.microsoft.com/office/drawing/2014/main" id="{16BEE9AB-D063-2C07-D1B2-2D89CCE374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72249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29023341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29023341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g7f9262ee2f_0_26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1" name="Google Shape;2111;g7f9262ee2f_0_26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">
          <a:extLst>
            <a:ext uri="{FF2B5EF4-FFF2-40B4-BE49-F238E27FC236}">
              <a16:creationId xmlns:a16="http://schemas.microsoft.com/office/drawing/2014/main" id="{417A91E2-BAFF-4571-A820-331F55F2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7f9262ee2f_0_26145:notes">
            <a:extLst>
              <a:ext uri="{FF2B5EF4-FFF2-40B4-BE49-F238E27FC236}">
                <a16:creationId xmlns:a16="http://schemas.microsoft.com/office/drawing/2014/main" id="{8763EB31-20C3-EE46-66EF-A234A929D7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8" name="Google Shape;2068;g7f9262ee2f_0_26145:notes">
            <a:extLst>
              <a:ext uri="{FF2B5EF4-FFF2-40B4-BE49-F238E27FC236}">
                <a16:creationId xmlns:a16="http://schemas.microsoft.com/office/drawing/2014/main" id="{77F366A7-ED36-77EE-99B8-F1F51D88D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27544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g7f9262ee2f_0_26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7" name="Google Shape;2177;g7f9262ee2f_0_26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g7f9262ee2f_0_26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8" name="Google Shape;2188;g7f9262ee2f_0_26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g7f9262ee2f_0_26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0" name="Google Shape;2150;g7f9262ee2f_0_26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g7f9262ee2f_0_26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4" name="Google Shape;1984;g7f9262ee2f_0_26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dist="28575" dir="636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5337175" y="1297125"/>
            <a:ext cx="2837400" cy="125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body" idx="1"/>
          </p:nvPr>
        </p:nvSpPr>
        <p:spPr>
          <a:xfrm>
            <a:off x="5337175" y="2593875"/>
            <a:ext cx="2837400" cy="12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1pPr>
            <a:lvl2pPr marL="914400" lvl="1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  <a:defRPr sz="1600">
                <a:solidFill>
                  <a:schemeClr val="lt1"/>
                </a:solidFill>
              </a:defRPr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  <a:defRPr sz="1600">
                <a:solidFill>
                  <a:schemeClr val="lt1"/>
                </a:solidFill>
              </a:defRPr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>
            <a:spLocks noGrp="1"/>
          </p:cNvSpPr>
          <p:nvPr>
            <p:ph type="title" hasCustomPrompt="1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1"/>
          </p:nvPr>
        </p:nvSpPr>
        <p:spPr>
          <a:xfrm>
            <a:off x="2786550" y="3094475"/>
            <a:ext cx="35709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2pPr>
            <a:lvl3pPr marL="1371600" lvl="2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3pPr>
            <a:lvl4pPr marL="1828800" lvl="3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4pPr>
            <a:lvl5pPr marL="2286000" lvl="4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5pPr>
            <a:lvl6pPr marL="2743200" lvl="5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6pPr>
            <a:lvl7pPr marL="3200400" lvl="6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 sz="1800">
                <a:solidFill>
                  <a:schemeClr val="accent1"/>
                </a:solidFill>
              </a:defRPr>
            </a:lvl7pPr>
            <a:lvl8pPr marL="3657600" lvl="7" indent="-34290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○"/>
              <a:defRPr sz="1800">
                <a:solidFill>
                  <a:schemeClr val="accent1"/>
                </a:solidFill>
              </a:defRPr>
            </a:lvl8pPr>
            <a:lvl9pPr marL="4114800" lvl="8" indent="-34290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800"/>
              <a:buChar char="■"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CAPTION_ONLY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735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938500" y="1246025"/>
            <a:ext cx="7172100" cy="303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162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1pPr>
            <a:lvl2pPr marL="914400" lvl="1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2pPr>
            <a:lvl3pPr marL="1371600" lvl="2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3pPr>
            <a:lvl4pPr marL="1828800" lvl="3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4pPr>
            <a:lvl5pPr marL="2286000" lvl="4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5pPr>
            <a:lvl6pPr marL="2743200" lvl="5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6pPr>
            <a:lvl7pPr marL="3200400" lvl="6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●"/>
              <a:defRPr sz="1150">
                <a:solidFill>
                  <a:schemeClr val="lt1"/>
                </a:solidFill>
              </a:defRPr>
            </a:lvl7pPr>
            <a:lvl8pPr marL="3657600" lvl="7" indent="-301625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50"/>
              <a:buChar char="○"/>
              <a:defRPr sz="1150">
                <a:solidFill>
                  <a:schemeClr val="lt1"/>
                </a:solidFill>
              </a:defRPr>
            </a:lvl8pPr>
            <a:lvl9pPr marL="4114800" lvl="8" indent="-301625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50"/>
              <a:buChar char="■"/>
              <a:defRPr sz="115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dist="19050" dir="5400000" algn="bl" rotWithShape="0">
              <a:srgbClr val="76A5AF">
                <a:alpha val="88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ctrTitle"/>
          </p:nvPr>
        </p:nvSpPr>
        <p:spPr>
          <a:xfrm>
            <a:off x="1273500" y="1369000"/>
            <a:ext cx="6597000" cy="21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ubTitle" idx="1"/>
          </p:nvPr>
        </p:nvSpPr>
        <p:spPr>
          <a:xfrm>
            <a:off x="2481900" y="2519525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APTION_ONL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3">
  <p:cSld name="CAPTION_ONLY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Lists">
  <p:cSld name="SECTION_TITLE_AND_DESCRIPTION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964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body" idx="1"/>
          </p:nvPr>
        </p:nvSpPr>
        <p:spPr>
          <a:xfrm>
            <a:off x="1067241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body" idx="2"/>
          </p:nvPr>
        </p:nvSpPr>
        <p:spPr>
          <a:xfrm>
            <a:off x="4673852" y="2651775"/>
            <a:ext cx="3258900" cy="17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title" idx="3"/>
          </p:nvPr>
        </p:nvSpPr>
        <p:spPr>
          <a:xfrm>
            <a:off x="12134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title" idx="4"/>
          </p:nvPr>
        </p:nvSpPr>
        <p:spPr>
          <a:xfrm>
            <a:off x="4820099" y="1955125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title" idx="2"/>
          </p:nvPr>
        </p:nvSpPr>
        <p:spPr>
          <a:xfrm>
            <a:off x="898386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subTitle" idx="1"/>
          </p:nvPr>
        </p:nvSpPr>
        <p:spPr>
          <a:xfrm>
            <a:off x="898389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title" idx="3"/>
          </p:nvPr>
        </p:nvSpPr>
        <p:spPr>
          <a:xfrm>
            <a:off x="2790261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subTitle" idx="4"/>
          </p:nvPr>
        </p:nvSpPr>
        <p:spPr>
          <a:xfrm>
            <a:off x="2790264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title" idx="5"/>
          </p:nvPr>
        </p:nvSpPr>
        <p:spPr>
          <a:xfrm>
            <a:off x="4682136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ubTitle" idx="6"/>
          </p:nvPr>
        </p:nvSpPr>
        <p:spPr>
          <a:xfrm>
            <a:off x="4682139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title" idx="7"/>
          </p:nvPr>
        </p:nvSpPr>
        <p:spPr>
          <a:xfrm>
            <a:off x="6574011" y="3052625"/>
            <a:ext cx="16716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ubTitle" idx="8"/>
          </p:nvPr>
        </p:nvSpPr>
        <p:spPr>
          <a:xfrm>
            <a:off x="6574014" y="3558837"/>
            <a:ext cx="167160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>
            <a:spLocks noGrp="1"/>
          </p:cNvSpPr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27"/>
          <p:cNvSpPr txBox="1">
            <a:spLocks noGrp="1"/>
          </p:cNvSpPr>
          <p:nvPr>
            <p:ph type="subTitle" idx="1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title" idx="2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subTitle" idx="3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title" idx="5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subTitle" idx="6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title" idx="7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subTitle" idx="8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title" idx="9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ubTitle" idx="13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27"/>
          <p:cNvSpPr txBox="1">
            <a:spLocks noGrp="1"/>
          </p:cNvSpPr>
          <p:nvPr>
            <p:ph type="title" idx="14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27"/>
          <p:cNvSpPr txBox="1">
            <a:spLocks noGrp="1"/>
          </p:cNvSpPr>
          <p:nvPr>
            <p:ph type="subTitle" idx="15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SECTION_TITLE_AND_DESCRIPTION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>
            <a:spLocks noGrp="1"/>
          </p:cNvSpPr>
          <p:nvPr>
            <p:ph type="subTitle" idx="1"/>
          </p:nvPr>
        </p:nvSpPr>
        <p:spPr>
          <a:xfrm>
            <a:off x="5817050" y="2435925"/>
            <a:ext cx="25563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>
            <a:spLocks noGrp="1"/>
          </p:cNvSpPr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32"/>
          <p:cNvSpPr txBox="1">
            <a:spLocks noGrp="1"/>
          </p:cNvSpPr>
          <p:nvPr>
            <p:ph type="subTitle" idx="1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3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list">
  <p:cSld name="TITLE_AND_TWO_COLUMNS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35"/>
          <p:cNvSpPr txBox="1">
            <a:spLocks noGrp="1"/>
          </p:cNvSpPr>
          <p:nvPr>
            <p:ph type="body" idx="1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 1">
  <p:cSld name="Title + Four Columns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title" idx="2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28"/>
          <p:cNvSpPr txBox="1">
            <a:spLocks noGrp="1"/>
          </p:cNvSpPr>
          <p:nvPr>
            <p:ph type="subTitle" idx="1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28"/>
          <p:cNvSpPr txBox="1">
            <a:spLocks noGrp="1"/>
          </p:cNvSpPr>
          <p:nvPr>
            <p:ph type="title" idx="3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subTitle" idx="4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title" idx="5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28"/>
          <p:cNvSpPr txBox="1">
            <a:spLocks noGrp="1"/>
          </p:cNvSpPr>
          <p:nvPr>
            <p:ph type="subTitle" idx="6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28"/>
          <p:cNvSpPr txBox="1">
            <a:spLocks noGrp="1"/>
          </p:cNvSpPr>
          <p:nvPr>
            <p:ph type="title" idx="7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28"/>
          <p:cNvSpPr txBox="1">
            <a:spLocks noGrp="1"/>
          </p:cNvSpPr>
          <p:nvPr>
            <p:ph type="subTitle" idx="8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3950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5" r:id="rId10"/>
    <p:sldLayoutId id="2147483666" r:id="rId11"/>
    <p:sldLayoutId id="2147483668" r:id="rId12"/>
    <p:sldLayoutId id="2147483669" r:id="rId13"/>
    <p:sldLayoutId id="2147483670" r:id="rId14"/>
    <p:sldLayoutId id="2147483671" r:id="rId15"/>
    <p:sldLayoutId id="2147483673" r:id="rId16"/>
    <p:sldLayoutId id="2147483675" r:id="rId17"/>
    <p:sldLayoutId id="2147483678" r:id="rId18"/>
    <p:sldLayoutId id="2147483680" r:id="rId19"/>
    <p:sldLayoutId id="2147483681" r:id="rId20"/>
    <p:sldLayoutId id="2147483684" r:id="rId2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Towards Real-Time Emotion Awareness in IoT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0" y="4685856"/>
            <a:ext cx="9144000" cy="464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Arpan Adhikari</a:t>
            </a:r>
            <a:r>
              <a:rPr lang="en-IN" baseline="30000" dirty="0"/>
              <a:t>1*</a:t>
            </a:r>
            <a:r>
              <a:rPr lang="en-IN" dirty="0"/>
              <a:t>, Sagnik Kumar</a:t>
            </a:r>
            <a:r>
              <a:rPr lang="en-IN" baseline="30000" dirty="0"/>
              <a:t>1</a:t>
            </a:r>
            <a:r>
              <a:rPr lang="en-IN" dirty="0"/>
              <a:t>, </a:t>
            </a:r>
            <a:r>
              <a:rPr lang="en-IN" dirty="0" err="1"/>
              <a:t>Somdipta</a:t>
            </a:r>
            <a:r>
              <a:rPr lang="en-IN" dirty="0"/>
              <a:t> Panja</a:t>
            </a:r>
            <a:r>
              <a:rPr lang="en-IN" baseline="30000" dirty="0"/>
              <a:t>1</a:t>
            </a:r>
            <a:r>
              <a:rPr lang="en-IN" dirty="0"/>
              <a:t>, Anirban Santra</a:t>
            </a:r>
            <a:r>
              <a:rPr lang="en-IN" baseline="30000" dirty="0"/>
              <a:t>1</a:t>
            </a:r>
            <a:r>
              <a:rPr lang="en-IN" dirty="0"/>
              <a:t>, Rimi Bhattacharjee</a:t>
            </a:r>
            <a:r>
              <a:rPr lang="en-IN" baseline="30000" dirty="0"/>
              <a:t>2</a:t>
            </a:r>
            <a:r>
              <a:rPr lang="en-IN" dirty="0"/>
              <a:t> </a:t>
            </a:r>
          </a:p>
          <a:p>
            <a:r>
              <a:rPr lang="en-IN" dirty="0"/>
              <a:t> </a:t>
            </a:r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907783" y="2910892"/>
            <a:ext cx="3260700" cy="46470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b="0" dirty="0">
                <a:solidFill>
                  <a:schemeClr val="bg1"/>
                </a:solidFill>
                <a:latin typeface="Montserrat ExtraLight"/>
                <a:ea typeface="Montserrat ExtraLight"/>
                <a:cs typeface="Montserrat ExtraLight"/>
                <a:sym typeface="Montserrat ExtraLight"/>
              </a:rPr>
              <a:t>Via Multimodal Fusion</a:t>
            </a:r>
            <a:endParaRPr sz="2000" b="0" dirty="0">
              <a:solidFill>
                <a:schemeClr val="bg1"/>
              </a:solidFill>
              <a:latin typeface="Montserrat ExtraLight"/>
              <a:ea typeface="Montserrat ExtraLight"/>
              <a:cs typeface="Montserrat ExtraLight"/>
              <a:sym typeface="Montserrat ExtraLight"/>
            </a:endParaRPr>
          </a:p>
        </p:txBody>
      </p:sp>
      <p:cxnSp>
        <p:nvCxnSpPr>
          <p:cNvPr id="165" name="Google Shape;165;p38"/>
          <p:cNvCxnSpPr>
            <a:cxnSpLocks/>
          </p:cNvCxnSpPr>
          <p:nvPr/>
        </p:nvCxnSpPr>
        <p:spPr>
          <a:xfrm>
            <a:off x="2683200" y="2723218"/>
            <a:ext cx="378533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9"/>
          <p:cNvSpPr txBox="1">
            <a:spLocks noGrp="1"/>
          </p:cNvSpPr>
          <p:nvPr>
            <p:ph type="ctrTitle"/>
          </p:nvPr>
        </p:nvSpPr>
        <p:spPr>
          <a:xfrm>
            <a:off x="1160611" y="194955"/>
            <a:ext cx="6597000" cy="9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tx2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Towards Emotion-Aware IoT:  </a:t>
            </a:r>
            <a:r>
              <a:rPr lang="en-US" sz="1800" b="0" dirty="0">
                <a:solidFill>
                  <a:schemeClr val="tx2"/>
                </a:solidFill>
                <a:latin typeface="Montserrat" panose="00000500000000000000" pitchFamily="2" charset="0"/>
                <a:cs typeface="Times New Roman" panose="02020603050405020304" pitchFamily="18" charset="0"/>
              </a:rPr>
              <a:t>Confidence-Aware Multimodal Emotion Recognition with Metaheuristic-Guided Visual Fusion for Real-Time Edge Deployment</a:t>
            </a:r>
          </a:p>
        </p:txBody>
      </p:sp>
      <p:sp>
        <p:nvSpPr>
          <p:cNvPr id="274" name="Google Shape;274;p49"/>
          <p:cNvSpPr txBox="1">
            <a:spLocks noGrp="1"/>
          </p:cNvSpPr>
          <p:nvPr>
            <p:ph type="subTitle" idx="1"/>
          </p:nvPr>
        </p:nvSpPr>
        <p:spPr>
          <a:xfrm>
            <a:off x="282222" y="1654434"/>
            <a:ext cx="844409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i="1" dirty="0">
                <a:solidFill>
                  <a:schemeClr val="bg1"/>
                </a:solidFill>
              </a:rPr>
              <a:t>Arpan Adhikari</a:t>
            </a:r>
            <a:r>
              <a:rPr lang="en-IN" i="1" baseline="30000" dirty="0">
                <a:solidFill>
                  <a:schemeClr val="bg1"/>
                </a:solidFill>
              </a:rPr>
              <a:t>1*</a:t>
            </a:r>
            <a:r>
              <a:rPr lang="en-IN" i="1" dirty="0">
                <a:solidFill>
                  <a:schemeClr val="bg1"/>
                </a:solidFill>
              </a:rPr>
              <a:t>, Sagnik Kumar</a:t>
            </a:r>
            <a:r>
              <a:rPr lang="en-IN" i="1" baseline="30000" dirty="0">
                <a:solidFill>
                  <a:schemeClr val="bg1"/>
                </a:solidFill>
              </a:rPr>
              <a:t>1</a:t>
            </a:r>
            <a:r>
              <a:rPr lang="en-IN" i="1" dirty="0">
                <a:solidFill>
                  <a:schemeClr val="bg1"/>
                </a:solidFill>
              </a:rPr>
              <a:t>, </a:t>
            </a:r>
            <a:r>
              <a:rPr lang="en-IN" i="1" dirty="0" err="1">
                <a:solidFill>
                  <a:schemeClr val="bg1"/>
                </a:solidFill>
              </a:rPr>
              <a:t>Somdipta</a:t>
            </a:r>
            <a:r>
              <a:rPr lang="en-IN" i="1" dirty="0">
                <a:solidFill>
                  <a:schemeClr val="bg1"/>
                </a:solidFill>
              </a:rPr>
              <a:t> Panja</a:t>
            </a:r>
            <a:r>
              <a:rPr lang="en-IN" i="1" baseline="30000" dirty="0">
                <a:solidFill>
                  <a:schemeClr val="bg1"/>
                </a:solidFill>
              </a:rPr>
              <a:t>1</a:t>
            </a:r>
            <a:r>
              <a:rPr lang="en-IN" i="1" dirty="0">
                <a:solidFill>
                  <a:schemeClr val="bg1"/>
                </a:solidFill>
              </a:rPr>
              <a:t>, Anirban Santra</a:t>
            </a:r>
            <a:r>
              <a:rPr lang="en-IN" i="1" baseline="30000" dirty="0">
                <a:solidFill>
                  <a:schemeClr val="bg1"/>
                </a:solidFill>
              </a:rPr>
              <a:t>1</a:t>
            </a:r>
            <a:r>
              <a:rPr lang="en-IN" i="1" dirty="0">
                <a:solidFill>
                  <a:schemeClr val="bg1"/>
                </a:solidFill>
              </a:rPr>
              <a:t>, Rimi Bhattacharjee</a:t>
            </a:r>
            <a:r>
              <a:rPr lang="en-IN" i="1" baseline="30000" dirty="0">
                <a:solidFill>
                  <a:schemeClr val="bg1"/>
                </a:solidFill>
              </a:rPr>
              <a:t>2</a:t>
            </a:r>
            <a:r>
              <a:rPr lang="en-IN" i="1" dirty="0">
                <a:solidFill>
                  <a:schemeClr val="bg1"/>
                </a:solidFill>
              </a:rPr>
              <a:t> </a:t>
            </a:r>
          </a:p>
          <a:p>
            <a:r>
              <a:rPr lang="en-IN" i="1" dirty="0">
                <a:solidFill>
                  <a:schemeClr val="bg1"/>
                </a:solidFill>
              </a:rPr>
              <a:t> </a:t>
            </a:r>
          </a:p>
        </p:txBody>
      </p:sp>
      <p:cxnSp>
        <p:nvCxnSpPr>
          <p:cNvPr id="275" name="Google Shape;275;p49"/>
          <p:cNvCxnSpPr/>
          <p:nvPr/>
        </p:nvCxnSpPr>
        <p:spPr>
          <a:xfrm>
            <a:off x="3077611" y="1417294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4" name="Google Shape;2099;p63">
            <a:extLst>
              <a:ext uri="{FF2B5EF4-FFF2-40B4-BE49-F238E27FC236}">
                <a16:creationId xmlns:a16="http://schemas.microsoft.com/office/drawing/2014/main" id="{AA374DD6-B76C-0CFE-8CAA-3497563E5321}"/>
              </a:ext>
            </a:extLst>
          </p:cNvPr>
          <p:cNvSpPr txBox="1">
            <a:spLocks/>
          </p:cNvSpPr>
          <p:nvPr/>
        </p:nvSpPr>
        <p:spPr>
          <a:xfrm>
            <a:off x="620890" y="2559718"/>
            <a:ext cx="3444948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IN" sz="1200" baseline="30000" dirty="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Department of Computer Science and Electronics, </a:t>
            </a:r>
            <a:r>
              <a:rPr lang="en-US" sz="1200" dirty="0">
                <a:solidFill>
                  <a:schemeClr val="bg1"/>
                </a:solidFill>
              </a:rPr>
              <a:t>Ramakrishna Mission </a:t>
            </a:r>
            <a:r>
              <a:rPr lang="en-US" sz="1200" dirty="0" err="1">
                <a:solidFill>
                  <a:schemeClr val="bg1"/>
                </a:solidFill>
              </a:rPr>
              <a:t>Vidyamandira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bg1">
                    <a:lumMod val="65000"/>
                  </a:schemeClr>
                </a:solidFill>
              </a:rPr>
              <a:t>Belur</a:t>
            </a:r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 Math, Howrah</a:t>
            </a:r>
          </a:p>
        </p:txBody>
      </p:sp>
      <p:cxnSp>
        <p:nvCxnSpPr>
          <p:cNvPr id="7" name="Google Shape;2107;p63">
            <a:extLst>
              <a:ext uri="{FF2B5EF4-FFF2-40B4-BE49-F238E27FC236}">
                <a16:creationId xmlns:a16="http://schemas.microsoft.com/office/drawing/2014/main" id="{68189479-2FAF-4614-8C50-75281E1901FF}"/>
              </a:ext>
            </a:extLst>
          </p:cNvPr>
          <p:cNvCxnSpPr/>
          <p:nvPr/>
        </p:nvCxnSpPr>
        <p:spPr>
          <a:xfrm>
            <a:off x="1655139" y="2292267"/>
            <a:ext cx="6447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8" name="Google Shape;2099;p63">
            <a:extLst>
              <a:ext uri="{FF2B5EF4-FFF2-40B4-BE49-F238E27FC236}">
                <a16:creationId xmlns:a16="http://schemas.microsoft.com/office/drawing/2014/main" id="{83CFA380-7C79-DF63-A1D3-F61D6445D49A}"/>
              </a:ext>
            </a:extLst>
          </p:cNvPr>
          <p:cNvSpPr txBox="1">
            <a:spLocks/>
          </p:cNvSpPr>
          <p:nvPr/>
        </p:nvSpPr>
        <p:spPr>
          <a:xfrm>
            <a:off x="5078164" y="2537883"/>
            <a:ext cx="3444948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3000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Montserrat" panose="00000500000000000000" pitchFamily="2" charset="0"/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2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Postgraduate and Research Department of Computer Science,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St. Xavier's college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Montserrat" panose="00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(Autonomous), Kolkata</a:t>
            </a:r>
          </a:p>
        </p:txBody>
      </p:sp>
      <p:sp>
        <p:nvSpPr>
          <p:cNvPr id="9" name="Google Shape;208;p43">
            <a:extLst>
              <a:ext uri="{FF2B5EF4-FFF2-40B4-BE49-F238E27FC236}">
                <a16:creationId xmlns:a16="http://schemas.microsoft.com/office/drawing/2014/main" id="{A2C88368-BA3D-BE15-1BFA-CF9D1A2ACD68}"/>
              </a:ext>
            </a:extLst>
          </p:cNvPr>
          <p:cNvSpPr txBox="1">
            <a:spLocks/>
          </p:cNvSpPr>
          <p:nvPr/>
        </p:nvSpPr>
        <p:spPr>
          <a:xfrm>
            <a:off x="1943424" y="3398701"/>
            <a:ext cx="5257152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*Correspondence: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arpanadhikari@vidyamandira.ac.in</a:t>
            </a:r>
            <a:endParaRPr lang="en-IN" dirty="0"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9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642922" cy="6459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dirty="0"/>
              <a:t>Contents</a:t>
            </a:r>
            <a:endParaRPr sz="3600" dirty="0"/>
          </a:p>
        </p:txBody>
      </p:sp>
      <p:sp>
        <p:nvSpPr>
          <p:cNvPr id="171" name="Google Shape;171;p39"/>
          <p:cNvSpPr txBox="1">
            <a:spLocks noGrp="1"/>
          </p:cNvSpPr>
          <p:nvPr>
            <p:ph type="body" idx="1"/>
          </p:nvPr>
        </p:nvSpPr>
        <p:spPr>
          <a:xfrm>
            <a:off x="938500" y="951947"/>
            <a:ext cx="7155633" cy="37775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</a:t>
            </a:r>
            <a:endParaRPr lang="en-US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-US" sz="1400" dirty="0"/>
              <a:t>Introduction</a:t>
            </a:r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endParaRPr lang="en-US" sz="1400" dirty="0"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-US" sz="1400" dirty="0"/>
              <a:t>Related Works</a:t>
            </a:r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endParaRPr lang="en-US" sz="1400" dirty="0"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-US" sz="1400" dirty="0"/>
              <a:t>Problem Domain</a:t>
            </a:r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endParaRPr lang="en-US" sz="1400" dirty="0"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-US" sz="1400" dirty="0"/>
              <a:t>Solution Domain</a:t>
            </a:r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endParaRPr lang="en-US" sz="1400" dirty="0"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-US" sz="1400" dirty="0"/>
              <a:t>Proposed Methodology</a:t>
            </a:r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endParaRPr lang="en-US" sz="1400" dirty="0"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-US" sz="1400" dirty="0"/>
              <a:t>Results &amp; Comparisons</a:t>
            </a:r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endParaRPr lang="en-US" sz="1400" dirty="0"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-US" sz="1400" dirty="0"/>
              <a:t>Limitation &amp; Future Scope</a:t>
            </a:r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endParaRPr lang="en-US" sz="1400" dirty="0"/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r>
              <a:rPr lang="en-US" sz="1400" dirty="0"/>
              <a:t>Conclusion</a:t>
            </a:r>
          </a:p>
          <a:p>
            <a:pPr marL="457200" lvl="0" indent="-301625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"/>
              <a:buFont typeface="Montserrat ExtraBold"/>
              <a:buAutoNum type="arabicPeriod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  <p:cxnSp>
        <p:nvCxnSpPr>
          <p:cNvPr id="172" name="Google Shape;172;p39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73" name="Google Shape;173;p39"/>
          <p:cNvSpPr txBox="1"/>
          <p:nvPr/>
        </p:nvSpPr>
        <p:spPr>
          <a:xfrm>
            <a:off x="1114366" y="1609208"/>
            <a:ext cx="6979767" cy="2860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800" dirty="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1056637" y="2351372"/>
            <a:ext cx="3831452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solidFill>
                  <a:schemeClr val="tx2"/>
                </a:solidFill>
              </a:rPr>
              <a:t>Introduction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293511" y="2268578"/>
            <a:ext cx="763126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chemeClr val="tx2"/>
                </a:solidFill>
              </a:rPr>
              <a:t>01</a:t>
            </a:r>
            <a:endParaRPr sz="4000" dirty="0">
              <a:solidFill>
                <a:schemeClr val="tx2"/>
              </a:solidFill>
            </a:endParaRPr>
          </a:p>
        </p:txBody>
      </p:sp>
      <p:sp>
        <p:nvSpPr>
          <p:cNvPr id="208" name="Google Shape;208;p43"/>
          <p:cNvSpPr txBox="1">
            <a:spLocks noGrp="1"/>
          </p:cNvSpPr>
          <p:nvPr>
            <p:ph type="subTitle" idx="1"/>
          </p:nvPr>
        </p:nvSpPr>
        <p:spPr>
          <a:xfrm>
            <a:off x="169337" y="2950171"/>
            <a:ext cx="8839196" cy="20620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US" sz="1800" dirty="0">
                <a:solidFill>
                  <a:schemeClr val="bg1"/>
                </a:solidFill>
                <a:latin typeface="Montserrat" panose="00000500000000000000" pitchFamily="2" charset="0"/>
                <a:cs typeface="Sora SemiBold" panose="020B0604020202020204" charset="0"/>
              </a:rPr>
              <a:t>Most emotion recognition systems plateau in accuracy and fail in real-world conditions due to reliance on facial cues alone.</a:t>
            </a:r>
          </a:p>
          <a:p>
            <a:pPr algn="just"/>
            <a:endParaRPr lang="en-US" sz="1800" dirty="0">
              <a:solidFill>
                <a:schemeClr val="bg1"/>
              </a:solidFill>
              <a:latin typeface="Montserrat" panose="00000500000000000000" pitchFamily="2" charset="0"/>
              <a:cs typeface="Sora SemiBold" panose="020B0604020202020204" charset="0"/>
            </a:endParaRPr>
          </a:p>
          <a:p>
            <a:pPr algn="just"/>
            <a:r>
              <a:rPr lang="en-US" sz="1800" dirty="0">
                <a:solidFill>
                  <a:schemeClr val="bg1"/>
                </a:solidFill>
                <a:latin typeface="Montserrat" panose="00000500000000000000" pitchFamily="2" charset="0"/>
                <a:cs typeface="Sora SemiBold" panose="020B0604020202020204" charset="0"/>
              </a:rPr>
              <a:t>Our approach fuses face, posture, and gaze to deliver stable, real-time emotional insights-enabling truly intelligent and emotionally aware smart devices</a:t>
            </a:r>
            <a:r>
              <a:rPr lang="en-US" dirty="0">
                <a:solidFill>
                  <a:schemeClr val="bg1"/>
                </a:solidFill>
                <a:latin typeface="Sora SemiBold" panose="020B0604020202020204" charset="0"/>
                <a:cs typeface="Sora SemiBold" panose="020B0604020202020204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 idx="6"/>
          </p:nvPr>
        </p:nvSpPr>
        <p:spPr>
          <a:xfrm>
            <a:off x="97172" y="1804026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01</a:t>
            </a:r>
            <a:endParaRPr sz="3200" dirty="0"/>
          </a:p>
        </p:txBody>
      </p:sp>
      <p:sp>
        <p:nvSpPr>
          <p:cNvPr id="179" name="Google Shape;179;p40"/>
          <p:cNvSpPr txBox="1">
            <a:spLocks noGrp="1"/>
          </p:cNvSpPr>
          <p:nvPr>
            <p:ph type="title"/>
          </p:nvPr>
        </p:nvSpPr>
        <p:spPr>
          <a:xfrm>
            <a:off x="1829273" y="3964231"/>
            <a:ext cx="2511299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100" dirty="0">
                <a:latin typeface="Montserrat" panose="00000500000000000000" pitchFamily="2" charset="0"/>
              </a:rPr>
              <a:t>Some multimodal methods exist (</a:t>
            </a:r>
            <a:r>
              <a:rPr lang="en-US" sz="1100" dirty="0" err="1">
                <a:latin typeface="Montserrat" panose="00000500000000000000" pitchFamily="2" charset="0"/>
              </a:rPr>
              <a:t>TMNet</a:t>
            </a:r>
            <a:r>
              <a:rPr lang="en-US" sz="1100" dirty="0">
                <a:latin typeface="Montserrat" panose="00000500000000000000" pitchFamily="2" charset="0"/>
              </a:rPr>
              <a:t>, Emotion-</a:t>
            </a:r>
            <a:r>
              <a:rPr lang="en-US" sz="1100" dirty="0" err="1">
                <a:latin typeface="Montserrat" panose="00000500000000000000" pitchFamily="2" charset="0"/>
              </a:rPr>
              <a:t>LLaMA</a:t>
            </a:r>
            <a:r>
              <a:rPr lang="en-US" sz="1100" dirty="0">
                <a:latin typeface="Montserrat" panose="00000500000000000000" pitchFamily="2" charset="0"/>
              </a:rPr>
              <a:t>, </a:t>
            </a:r>
            <a:r>
              <a:rPr lang="en-US" sz="1100" dirty="0" err="1">
                <a:latin typeface="Montserrat" panose="00000500000000000000" pitchFamily="2" charset="0"/>
              </a:rPr>
              <a:t>OpenFace</a:t>
            </a:r>
            <a:r>
              <a:rPr lang="en-US" sz="1100" dirty="0">
                <a:latin typeface="Montserrat" panose="00000500000000000000" pitchFamily="2" charset="0"/>
              </a:rPr>
              <a:t> 3.0) but:</a:t>
            </a:r>
            <a:endParaRPr sz="1100" dirty="0">
              <a:latin typeface="Montserrat" panose="00000500000000000000" pitchFamily="2" charset="0"/>
            </a:endParaRPr>
          </a:p>
        </p:txBody>
      </p:sp>
      <p:sp>
        <p:nvSpPr>
          <p:cNvPr id="181" name="Google Shape;181;p40"/>
          <p:cNvSpPr txBox="1">
            <a:spLocks noGrp="1"/>
          </p:cNvSpPr>
          <p:nvPr>
            <p:ph type="title" idx="2"/>
          </p:nvPr>
        </p:nvSpPr>
        <p:spPr>
          <a:xfrm>
            <a:off x="3621747" y="2795830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100" dirty="0">
                <a:latin typeface="Montserrat" panose="00000500000000000000" pitchFamily="2" charset="0"/>
              </a:rPr>
              <a:t>Not optimized for edge deployment.</a:t>
            </a:r>
            <a:endParaRPr sz="1100" dirty="0">
              <a:latin typeface="Montserrat" panose="00000500000000000000" pitchFamily="2" charset="0"/>
            </a:endParaRPr>
          </a:p>
        </p:txBody>
      </p:sp>
      <p:sp>
        <p:nvSpPr>
          <p:cNvPr id="183" name="Google Shape;183;p40"/>
          <p:cNvSpPr txBox="1">
            <a:spLocks noGrp="1"/>
          </p:cNvSpPr>
          <p:nvPr>
            <p:ph type="title" idx="4"/>
          </p:nvPr>
        </p:nvSpPr>
        <p:spPr>
          <a:xfrm>
            <a:off x="-14356" y="2424935"/>
            <a:ext cx="2363809" cy="91838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latin typeface="Montserrat" panose="00000500000000000000" pitchFamily="2" charset="0"/>
              </a:rPr>
              <a:t>Previous research prioritizes face/voice; posture and gaze are usually ignored.</a:t>
            </a:r>
            <a:endParaRPr sz="1100" dirty="0">
              <a:latin typeface="Montserrat" panose="00000500000000000000" pitchFamily="2" charset="0"/>
            </a:endParaRPr>
          </a:p>
        </p:txBody>
      </p:sp>
      <p:sp>
        <p:nvSpPr>
          <p:cNvPr id="185" name="Google Shape;185;p40"/>
          <p:cNvSpPr txBox="1">
            <a:spLocks noGrp="1"/>
          </p:cNvSpPr>
          <p:nvPr>
            <p:ph type="title" idx="7"/>
          </p:nvPr>
        </p:nvSpPr>
        <p:spPr>
          <a:xfrm>
            <a:off x="1924185" y="2933455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02</a:t>
            </a:r>
            <a:endParaRPr sz="3200" dirty="0"/>
          </a:p>
        </p:txBody>
      </p:sp>
      <p:sp>
        <p:nvSpPr>
          <p:cNvPr id="186" name="Google Shape;186;p40"/>
          <p:cNvSpPr txBox="1">
            <a:spLocks noGrp="1"/>
          </p:cNvSpPr>
          <p:nvPr>
            <p:ph type="title" idx="8"/>
          </p:nvPr>
        </p:nvSpPr>
        <p:spPr>
          <a:xfrm>
            <a:off x="3657884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03</a:t>
            </a:r>
            <a:endParaRPr sz="3200" dirty="0"/>
          </a:p>
        </p:txBody>
      </p:sp>
      <p:cxnSp>
        <p:nvCxnSpPr>
          <p:cNvPr id="187" name="Google Shape;187;p40"/>
          <p:cNvCxnSpPr/>
          <p:nvPr/>
        </p:nvCxnSpPr>
        <p:spPr>
          <a:xfrm>
            <a:off x="968949" y="2523582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8" name="Google Shape;188;p40"/>
          <p:cNvCxnSpPr/>
          <p:nvPr/>
        </p:nvCxnSpPr>
        <p:spPr>
          <a:xfrm>
            <a:off x="2770378" y="3708915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9" name="Google Shape;189;p40"/>
          <p:cNvCxnSpPr/>
          <p:nvPr/>
        </p:nvCxnSpPr>
        <p:spPr>
          <a:xfrm>
            <a:off x="4492977" y="2586187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Google Shape;178;p40">
            <a:extLst>
              <a:ext uri="{FF2B5EF4-FFF2-40B4-BE49-F238E27FC236}">
                <a16:creationId xmlns:a16="http://schemas.microsoft.com/office/drawing/2014/main" id="{9A94C497-CBE8-0155-54A4-D9236CE8F740}"/>
              </a:ext>
            </a:extLst>
          </p:cNvPr>
          <p:cNvSpPr txBox="1">
            <a:spLocks/>
          </p:cNvSpPr>
          <p:nvPr/>
        </p:nvSpPr>
        <p:spPr>
          <a:xfrm>
            <a:off x="7025924" y="1765054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" sz="3200" dirty="0"/>
              <a:t>05</a:t>
            </a:r>
          </a:p>
        </p:txBody>
      </p:sp>
      <p:sp>
        <p:nvSpPr>
          <p:cNvPr id="5" name="Google Shape;183;p40">
            <a:extLst>
              <a:ext uri="{FF2B5EF4-FFF2-40B4-BE49-F238E27FC236}">
                <a16:creationId xmlns:a16="http://schemas.microsoft.com/office/drawing/2014/main" id="{631EDF28-EFEE-98E8-A9AA-43025BF8E5E2}"/>
              </a:ext>
            </a:extLst>
          </p:cNvPr>
          <p:cNvSpPr txBox="1">
            <a:spLocks/>
          </p:cNvSpPr>
          <p:nvPr/>
        </p:nvSpPr>
        <p:spPr>
          <a:xfrm>
            <a:off x="6547555" y="2745397"/>
            <a:ext cx="2667312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1100" dirty="0">
                <a:latin typeface="Montserrat" panose="00000500000000000000" pitchFamily="2" charset="0"/>
              </a:rPr>
              <a:t>Need for synchronized, lightweight, and adaptive fusion mechanisms.</a:t>
            </a:r>
            <a:endParaRPr lang="en-IN" sz="1100" dirty="0">
              <a:latin typeface="Montserrat" panose="00000500000000000000" pitchFamily="2" charset="0"/>
            </a:endParaRPr>
          </a:p>
        </p:txBody>
      </p:sp>
      <p:sp>
        <p:nvSpPr>
          <p:cNvPr id="14" name="Google Shape;178;p40">
            <a:extLst>
              <a:ext uri="{FF2B5EF4-FFF2-40B4-BE49-F238E27FC236}">
                <a16:creationId xmlns:a16="http://schemas.microsoft.com/office/drawing/2014/main" id="{8290E8B2-AA4C-E0F1-2D40-08EA4F1EC510}"/>
              </a:ext>
            </a:extLst>
          </p:cNvPr>
          <p:cNvSpPr txBox="1">
            <a:spLocks/>
          </p:cNvSpPr>
          <p:nvPr/>
        </p:nvSpPr>
        <p:spPr>
          <a:xfrm>
            <a:off x="5407385" y="2916517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" sz="3200" dirty="0"/>
              <a:t>04</a:t>
            </a:r>
          </a:p>
        </p:txBody>
      </p:sp>
      <p:sp>
        <p:nvSpPr>
          <p:cNvPr id="15" name="Google Shape;183;p40">
            <a:extLst>
              <a:ext uri="{FF2B5EF4-FFF2-40B4-BE49-F238E27FC236}">
                <a16:creationId xmlns:a16="http://schemas.microsoft.com/office/drawing/2014/main" id="{38A6FF92-E4EF-8CF7-1E25-10AE1A030F99}"/>
              </a:ext>
            </a:extLst>
          </p:cNvPr>
          <p:cNvSpPr txBox="1">
            <a:spLocks/>
          </p:cNvSpPr>
          <p:nvPr/>
        </p:nvSpPr>
        <p:spPr>
          <a:xfrm>
            <a:off x="5310009" y="3810024"/>
            <a:ext cx="2511299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sz="1100" dirty="0">
                <a:latin typeface="Montserrat" panose="00000500000000000000" pitchFamily="2" charset="0"/>
              </a:rPr>
              <a:t>Suffer from frame instability and lack fallback features.</a:t>
            </a:r>
            <a:endParaRPr lang="en-IN" sz="1100" dirty="0">
              <a:latin typeface="Montserrat" panose="00000500000000000000" pitchFamily="2" charset="0"/>
            </a:endParaRPr>
          </a:p>
        </p:txBody>
      </p:sp>
      <p:cxnSp>
        <p:nvCxnSpPr>
          <p:cNvPr id="16" name="Google Shape;187;p40">
            <a:extLst>
              <a:ext uri="{FF2B5EF4-FFF2-40B4-BE49-F238E27FC236}">
                <a16:creationId xmlns:a16="http://schemas.microsoft.com/office/drawing/2014/main" id="{A32CD3DA-D698-6248-40CD-0002875F6757}"/>
              </a:ext>
            </a:extLst>
          </p:cNvPr>
          <p:cNvCxnSpPr/>
          <p:nvPr/>
        </p:nvCxnSpPr>
        <p:spPr>
          <a:xfrm>
            <a:off x="6280378" y="3703266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7" name="Google Shape;187;p40">
            <a:extLst>
              <a:ext uri="{FF2B5EF4-FFF2-40B4-BE49-F238E27FC236}">
                <a16:creationId xmlns:a16="http://schemas.microsoft.com/office/drawing/2014/main" id="{D8D79799-1B90-4088-3D21-2269ACABA9B1}"/>
              </a:ext>
            </a:extLst>
          </p:cNvPr>
          <p:cNvCxnSpPr/>
          <p:nvPr/>
        </p:nvCxnSpPr>
        <p:spPr>
          <a:xfrm>
            <a:off x="7866465" y="2523579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8" name="Google Shape;170;p39">
            <a:extLst>
              <a:ext uri="{FF2B5EF4-FFF2-40B4-BE49-F238E27FC236}">
                <a16:creationId xmlns:a16="http://schemas.microsoft.com/office/drawing/2014/main" id="{C379BA3D-2E9F-A7FC-12DD-90F404F3F10F}"/>
              </a:ext>
            </a:extLst>
          </p:cNvPr>
          <p:cNvSpPr txBox="1">
            <a:spLocks/>
          </p:cNvSpPr>
          <p:nvPr/>
        </p:nvSpPr>
        <p:spPr>
          <a:xfrm>
            <a:off x="8222" y="524614"/>
            <a:ext cx="5150800" cy="64597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IN" sz="4400" dirty="0">
                <a:solidFill>
                  <a:schemeClr val="tx2"/>
                </a:solidFill>
              </a:rPr>
              <a:t>02 </a:t>
            </a:r>
            <a:r>
              <a:rPr lang="en-IN" sz="3600" dirty="0">
                <a:solidFill>
                  <a:schemeClr val="tx2"/>
                </a:solidFill>
              </a:rPr>
              <a:t>Related Works</a:t>
            </a:r>
            <a:endParaRPr lang="en-IN" sz="40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2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… AND THE SAME GOES FOR TABLES</a:t>
            </a:r>
            <a:endParaRPr dirty="0"/>
          </a:p>
        </p:txBody>
      </p:sp>
      <p:cxnSp>
        <p:nvCxnSpPr>
          <p:cNvPr id="366" name="Google Shape;366;p52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3A6005-7F08-E753-A18F-E6E9D6BE91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559447"/>
              </p:ext>
            </p:extLst>
          </p:nvPr>
        </p:nvGraphicFramePr>
        <p:xfrm>
          <a:off x="270933" y="1417427"/>
          <a:ext cx="8669867" cy="3627000"/>
        </p:xfrm>
        <a:graphic>
          <a:graphicData uri="http://schemas.openxmlformats.org/drawingml/2006/table">
            <a:tbl>
              <a:tblPr firstRow="1" bandRow="1"/>
              <a:tblGrid>
                <a:gridCol w="2159000">
                  <a:extLst>
                    <a:ext uri="{9D8B030D-6E8A-4147-A177-3AD203B41FA5}">
                      <a16:colId xmlns:a16="http://schemas.microsoft.com/office/drawing/2014/main" val="1575867994"/>
                    </a:ext>
                  </a:extLst>
                </a:gridCol>
                <a:gridCol w="2170289">
                  <a:extLst>
                    <a:ext uri="{9D8B030D-6E8A-4147-A177-3AD203B41FA5}">
                      <a16:colId xmlns:a16="http://schemas.microsoft.com/office/drawing/2014/main" val="1174782980"/>
                    </a:ext>
                  </a:extLst>
                </a:gridCol>
                <a:gridCol w="2170289">
                  <a:extLst>
                    <a:ext uri="{9D8B030D-6E8A-4147-A177-3AD203B41FA5}">
                      <a16:colId xmlns:a16="http://schemas.microsoft.com/office/drawing/2014/main" val="1721393985"/>
                    </a:ext>
                  </a:extLst>
                </a:gridCol>
                <a:gridCol w="2170289">
                  <a:extLst>
                    <a:ext uri="{9D8B030D-6E8A-4147-A177-3AD203B41FA5}">
                      <a16:colId xmlns:a16="http://schemas.microsoft.com/office/drawing/2014/main" val="2887828428"/>
                    </a:ext>
                  </a:extLst>
                </a:gridCol>
              </a:tblGrid>
              <a:tr h="40193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Author</a:t>
                      </a:r>
                      <a:endParaRPr lang="en-IN" sz="1800" b="1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Contributions</a:t>
                      </a:r>
                      <a:endParaRPr lang="en-IN" sz="1800" b="1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Shortcomings</a:t>
                      </a:r>
                      <a:endParaRPr lang="en-IN" sz="1800" b="1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b="1" kern="1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Our Solution</a:t>
                      </a:r>
                      <a:endParaRPr lang="en-IN" sz="1800" b="1" kern="100" dirty="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3763276"/>
                  </a:ext>
                </a:extLst>
              </a:tr>
              <a:tr h="4019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 Li et al (2023)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Kernel-based trimodal recognition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High computational overhead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Lightweight YOLOv10-CNN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74370"/>
                  </a:ext>
                </a:extLst>
              </a:tr>
              <a:tr h="4019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Cheng et al (2024)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Emotion-</a:t>
                      </a:r>
                      <a:r>
                        <a:rPr lang="en-IN" sz="1200" kern="100" dirty="0" err="1">
                          <a:solidFill>
                            <a:schemeClr val="bg1"/>
                          </a:solidFill>
                          <a:effectLst/>
                        </a:rPr>
                        <a:t>LLaMA</a:t>
                      </a: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 model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High costs, low interpretability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solidFill>
                            <a:schemeClr val="bg1"/>
                          </a:solidFill>
                          <a:effectLst/>
                        </a:rPr>
                        <a:t>&lt;120ms ARM optimization</a:t>
                      </a:r>
                      <a:endParaRPr lang="en-IN" sz="1200" kern="1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48934"/>
                  </a:ext>
                </a:extLst>
              </a:tr>
              <a:tr h="4019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Xiang et </a:t>
                      </a:r>
                      <a:r>
                        <a:rPr lang="en-IN" sz="1200" kern="100">
                          <a:solidFill>
                            <a:schemeClr val="bg1"/>
                          </a:solidFill>
                          <a:effectLst/>
                        </a:rPr>
                        <a:t>al  (2024)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 err="1">
                          <a:solidFill>
                            <a:schemeClr val="bg1"/>
                          </a:solidFill>
                          <a:effectLst/>
                        </a:rPr>
                        <a:t>MultiMAE</a:t>
                      </a: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-DER fusion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Needs EEG hardware, no visual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 Posture </a:t>
                      </a:r>
                      <a:r>
                        <a:rPr lang="en-IN" sz="1200" kern="100" dirty="0" err="1">
                          <a:solidFill>
                            <a:schemeClr val="bg1"/>
                          </a:solidFill>
                          <a:effectLst/>
                        </a:rPr>
                        <a:t>modeling</a:t>
                      </a: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 + gaze inference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885794"/>
                  </a:ext>
                </a:extLst>
              </a:tr>
              <a:tr h="4019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Muniyandi et al (2025)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EEG + Sand Cat Optimization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Requires wearable sensors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Commodity cameras only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4451048"/>
                  </a:ext>
                </a:extLst>
              </a:tr>
              <a:tr h="4019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Wu et al (2025)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solidFill>
                            <a:schemeClr val="bg1"/>
                          </a:solidFill>
                          <a:effectLst/>
                        </a:rPr>
                        <a:t> Cross-lingual prompt-learning</a:t>
                      </a:r>
                      <a:endParaRPr lang="en-IN" sz="1200" kern="1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No modality balancing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Confidence-weighted fusion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365610"/>
                  </a:ext>
                </a:extLst>
              </a:tr>
              <a:tr h="4019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Liu (2024)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solidFill>
                            <a:schemeClr val="bg1"/>
                          </a:solidFill>
                          <a:effectLst/>
                        </a:rPr>
                        <a:t>ResNet/ANN body-face fusion</a:t>
                      </a:r>
                      <a:endParaRPr lang="en-IN" sz="1200" kern="1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No gaze-posture sync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Synchronized multi-stream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362611"/>
                  </a:ext>
                </a:extLst>
              </a:tr>
              <a:tr h="4019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Hu et al (2025)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solidFill>
                            <a:schemeClr val="bg1"/>
                          </a:solidFill>
                          <a:effectLst/>
                        </a:rPr>
                        <a:t>OpenFace 3.0 facial analysis</a:t>
                      </a:r>
                      <a:endParaRPr lang="en-IN" sz="1200" kern="1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No posture, not edge-ready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 Edge-validated posture analysis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19241"/>
                  </a:ext>
                </a:extLst>
              </a:tr>
              <a:tr h="4019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Alam et al (2025)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solidFill>
                            <a:schemeClr val="bg1"/>
                          </a:solidFill>
                          <a:effectLst/>
                        </a:rPr>
                        <a:t>TMNet EEG+speech</a:t>
                      </a:r>
                      <a:endParaRPr lang="en-IN" sz="1200" kern="1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solidFill>
                            <a:schemeClr val="bg1"/>
                          </a:solidFill>
                          <a:effectLst/>
                        </a:rPr>
                        <a:t>No visual, not low-resource</a:t>
                      </a:r>
                      <a:endParaRPr lang="en-IN" sz="1200" kern="10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Visual-centric IoT optimization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Montserrat" panose="00000500000000000000" pitchFamily="2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  <a:alpha val="69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8224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5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335358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03 </a:t>
            </a:r>
            <a:r>
              <a:rPr lang="en" sz="3600" dirty="0"/>
              <a:t>Problem Domain</a:t>
            </a:r>
            <a:endParaRPr sz="3200" dirty="0"/>
          </a:p>
        </p:txBody>
      </p:sp>
      <p:cxnSp>
        <p:nvCxnSpPr>
          <p:cNvPr id="1956" name="Google Shape;1956;p54"/>
          <p:cNvCxnSpPr>
            <a:cxnSpLocks/>
          </p:cNvCxnSpPr>
          <p:nvPr/>
        </p:nvCxnSpPr>
        <p:spPr>
          <a:xfrm>
            <a:off x="938500" y="2859300"/>
            <a:ext cx="7426567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7" name="Google Shape;1957;p54"/>
          <p:cNvSpPr txBox="1">
            <a:spLocks noGrp="1"/>
          </p:cNvSpPr>
          <p:nvPr>
            <p:ph type="title" idx="4294967295"/>
          </p:nvPr>
        </p:nvSpPr>
        <p:spPr>
          <a:xfrm>
            <a:off x="899850" y="1866090"/>
            <a:ext cx="1937061" cy="735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b="1" dirty="0">
                <a:latin typeface="Montserrat" panose="00000500000000000000" pitchFamily="2" charset="0"/>
              </a:rPr>
              <a:t>Frame Instability: </a:t>
            </a:r>
            <a:r>
              <a:rPr lang="en-US" sz="1200" dirty="0">
                <a:latin typeface="Montserrat" panose="00000500000000000000" pitchFamily="2" charset="0"/>
              </a:rPr>
              <a:t>Prediction jitter limits use.</a:t>
            </a:r>
            <a:endParaRPr sz="1200" dirty="0">
              <a:solidFill>
                <a:schemeClr val="lt1"/>
              </a:solidFill>
              <a:latin typeface="Montserrat" panose="00000500000000000000" pitchFamily="2" charset="0"/>
            </a:endParaRPr>
          </a:p>
        </p:txBody>
      </p:sp>
      <p:sp>
        <p:nvSpPr>
          <p:cNvPr id="1958" name="Google Shape;1958;p54"/>
          <p:cNvSpPr txBox="1">
            <a:spLocks noGrp="1"/>
          </p:cNvSpPr>
          <p:nvPr>
            <p:ph type="subTitle" idx="4294967295"/>
          </p:nvPr>
        </p:nvSpPr>
        <p:spPr>
          <a:xfrm>
            <a:off x="814469" y="3100229"/>
            <a:ext cx="1937061" cy="7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Aft>
                <a:spcPts val="16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Rigid Posture Models:</a:t>
            </a:r>
            <a:r>
              <a:rPr lang="en-US" sz="1200" dirty="0">
                <a:solidFill>
                  <a:schemeClr val="bg1"/>
                </a:solidFill>
              </a:rPr>
              <a:t> Cannot handle body language nuance.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959" name="Google Shape;1959;p54"/>
          <p:cNvSpPr txBox="1">
            <a:spLocks noGrp="1"/>
          </p:cNvSpPr>
          <p:nvPr>
            <p:ph type="title" idx="4294967295"/>
          </p:nvPr>
        </p:nvSpPr>
        <p:spPr>
          <a:xfrm>
            <a:off x="6273858" y="1960462"/>
            <a:ext cx="2290655" cy="3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High resource need: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 Unfit for real-time edge/IoT deployment.</a:t>
            </a:r>
            <a:endParaRPr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960" name="Google Shape;1960;p54"/>
          <p:cNvSpPr txBox="1">
            <a:spLocks noGrp="1"/>
          </p:cNvSpPr>
          <p:nvPr>
            <p:ph type="subTitle" idx="4294967295"/>
          </p:nvPr>
        </p:nvSpPr>
        <p:spPr>
          <a:xfrm>
            <a:off x="6399817" y="3168631"/>
            <a:ext cx="2164696" cy="7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-US" sz="1200" b="1" dirty="0">
                <a:solidFill>
                  <a:schemeClr val="bg1"/>
                </a:solidFill>
              </a:rPr>
              <a:t>No fallback:</a:t>
            </a:r>
            <a:r>
              <a:rPr lang="en-US" sz="1200" dirty="0">
                <a:solidFill>
                  <a:schemeClr val="bg1"/>
                </a:solidFill>
              </a:rPr>
              <a:t> Failures if one stream is missing.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962" name="Google Shape;1962;p54"/>
          <p:cNvSpPr txBox="1">
            <a:spLocks noGrp="1"/>
          </p:cNvSpPr>
          <p:nvPr>
            <p:ph type="title" idx="4294967295"/>
          </p:nvPr>
        </p:nvSpPr>
        <p:spPr>
          <a:xfrm>
            <a:off x="3474621" y="3183038"/>
            <a:ext cx="2164697" cy="3482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1200" b="1" dirty="0">
                <a:solidFill>
                  <a:schemeClr val="bg1"/>
                </a:solidFill>
                <a:latin typeface="Montserrat" panose="00000500000000000000" pitchFamily="2" charset="0"/>
              </a:rPr>
              <a:t>Asynchrony in Fusion: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 Pipelines not synchronized.</a:t>
            </a:r>
            <a:endParaRPr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1965" name="Google Shape;1965;p54"/>
          <p:cNvSpPr/>
          <p:nvPr/>
        </p:nvSpPr>
        <p:spPr>
          <a:xfrm>
            <a:off x="1629094" y="2750550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6" name="Google Shape;1966;p54"/>
          <p:cNvSpPr/>
          <p:nvPr/>
        </p:nvSpPr>
        <p:spPr>
          <a:xfrm>
            <a:off x="4415209" y="2750550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7" name="Google Shape;1967;p54"/>
          <p:cNvSpPr/>
          <p:nvPr/>
        </p:nvSpPr>
        <p:spPr>
          <a:xfrm>
            <a:off x="7257764" y="2750550"/>
            <a:ext cx="217500" cy="217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69" name="Google Shape;1969;p5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5" name="Google Shape;1961;p54">
            <a:extLst>
              <a:ext uri="{FF2B5EF4-FFF2-40B4-BE49-F238E27FC236}">
                <a16:creationId xmlns:a16="http://schemas.microsoft.com/office/drawing/2014/main" id="{0260C03A-2790-07A9-D59C-DE7E2F83DD57}"/>
              </a:ext>
            </a:extLst>
          </p:cNvPr>
          <p:cNvSpPr txBox="1">
            <a:spLocks/>
          </p:cNvSpPr>
          <p:nvPr/>
        </p:nvSpPr>
        <p:spPr>
          <a:xfrm>
            <a:off x="3471234" y="1847214"/>
            <a:ext cx="2290656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spcAft>
                <a:spcPts val="16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Shallow Cognitive Inference:</a:t>
            </a:r>
            <a:r>
              <a:rPr lang="en-US" sz="1200" dirty="0">
                <a:solidFill>
                  <a:schemeClr val="bg1"/>
                </a:solidFill>
              </a:rPr>
              <a:t> Poor mental state estimation.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58"/>
          <p:cNvSpPr txBox="1">
            <a:spLocks noGrp="1"/>
          </p:cNvSpPr>
          <p:nvPr>
            <p:ph type="title"/>
          </p:nvPr>
        </p:nvSpPr>
        <p:spPr>
          <a:xfrm>
            <a:off x="824094" y="445025"/>
            <a:ext cx="5296867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04 </a:t>
            </a:r>
            <a:r>
              <a:rPr lang="en" sz="3600" dirty="0"/>
              <a:t>Solution Domain</a:t>
            </a:r>
            <a:endParaRPr dirty="0"/>
          </a:p>
        </p:txBody>
      </p:sp>
      <p:sp>
        <p:nvSpPr>
          <p:cNvPr id="2004" name="Google Shape;2004;p58"/>
          <p:cNvSpPr txBox="1">
            <a:spLocks noGrp="1"/>
          </p:cNvSpPr>
          <p:nvPr>
            <p:ph type="title" idx="2"/>
          </p:nvPr>
        </p:nvSpPr>
        <p:spPr>
          <a:xfrm>
            <a:off x="-11292" y="2533338"/>
            <a:ext cx="2675467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200" dirty="0">
                <a:latin typeface="Montserrat SemiBold" panose="020F0502020204030204" pitchFamily="2" charset="0"/>
              </a:rPr>
              <a:t>Propose a confidence-aware, multimodal architecture:</a:t>
            </a:r>
            <a:endParaRPr sz="1200" dirty="0">
              <a:latin typeface="Montserrat SemiBold" panose="020F0502020204030204" pitchFamily="2" charset="0"/>
            </a:endParaRPr>
          </a:p>
        </p:txBody>
      </p:sp>
      <p:sp>
        <p:nvSpPr>
          <p:cNvPr id="2005" name="Google Shape;2005;p58"/>
          <p:cNvSpPr txBox="1">
            <a:spLocks noGrp="1"/>
          </p:cNvSpPr>
          <p:nvPr>
            <p:ph type="subTitle" idx="1"/>
          </p:nvPr>
        </p:nvSpPr>
        <p:spPr>
          <a:xfrm>
            <a:off x="-38326" y="3192844"/>
            <a:ext cx="2675467" cy="5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100" dirty="0"/>
              <a:t>Tightly synchronized facial, postural, and gaze pipelines.</a:t>
            </a:r>
            <a:endParaRPr sz="1100" dirty="0"/>
          </a:p>
        </p:txBody>
      </p:sp>
      <p:sp>
        <p:nvSpPr>
          <p:cNvPr id="2006" name="Google Shape;2006;p58"/>
          <p:cNvSpPr txBox="1">
            <a:spLocks noGrp="1"/>
          </p:cNvSpPr>
          <p:nvPr>
            <p:ph type="title" idx="3"/>
          </p:nvPr>
        </p:nvSpPr>
        <p:spPr>
          <a:xfrm>
            <a:off x="2641600" y="3786410"/>
            <a:ext cx="2389915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200" dirty="0">
                <a:latin typeface="Montserrat SemiBold" panose="00000700000000000000" pitchFamily="2" charset="0"/>
              </a:rPr>
              <a:t>Adaptive posture scoring using metaheuristic methods.</a:t>
            </a:r>
            <a:endParaRPr sz="1200" dirty="0">
              <a:latin typeface="Montserrat SemiBold" panose="00000700000000000000" pitchFamily="2" charset="0"/>
            </a:endParaRPr>
          </a:p>
        </p:txBody>
      </p:sp>
      <p:sp>
        <p:nvSpPr>
          <p:cNvPr id="2007" name="Google Shape;2007;p58"/>
          <p:cNvSpPr txBox="1">
            <a:spLocks noGrp="1"/>
          </p:cNvSpPr>
          <p:nvPr>
            <p:ph type="subTitle" idx="4"/>
          </p:nvPr>
        </p:nvSpPr>
        <p:spPr>
          <a:xfrm>
            <a:off x="2689490" y="4334211"/>
            <a:ext cx="2226664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100" dirty="0"/>
              <a:t>Utilizes GWO, GOA, and PSO for effective posture evaluation.</a:t>
            </a:r>
            <a:endParaRPr sz="1100" dirty="0"/>
          </a:p>
        </p:txBody>
      </p:sp>
      <p:sp>
        <p:nvSpPr>
          <p:cNvPr id="2008" name="Google Shape;2008;p58"/>
          <p:cNvSpPr txBox="1">
            <a:spLocks noGrp="1"/>
          </p:cNvSpPr>
          <p:nvPr>
            <p:ph type="title" idx="5"/>
          </p:nvPr>
        </p:nvSpPr>
        <p:spPr>
          <a:xfrm>
            <a:off x="4961542" y="2522005"/>
            <a:ext cx="2173869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200" dirty="0">
                <a:latin typeface="Montserrat SemiBold" panose="00000700000000000000" pitchFamily="2" charset="0"/>
              </a:rPr>
              <a:t>Camera-based gaze and cognitive state estimation.</a:t>
            </a:r>
            <a:endParaRPr sz="1200" dirty="0">
              <a:latin typeface="Montserrat SemiBold" panose="00000700000000000000" pitchFamily="2" charset="0"/>
            </a:endParaRPr>
          </a:p>
        </p:txBody>
      </p:sp>
      <p:sp>
        <p:nvSpPr>
          <p:cNvPr id="2009" name="Google Shape;2009;p58"/>
          <p:cNvSpPr txBox="1">
            <a:spLocks noGrp="1"/>
          </p:cNvSpPr>
          <p:nvPr>
            <p:ph type="subTitle" idx="6"/>
          </p:nvPr>
        </p:nvSpPr>
        <p:spPr>
          <a:xfrm>
            <a:off x="4913211" y="3133054"/>
            <a:ext cx="2182230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100" dirty="0"/>
              <a:t>Achieves estimation without requiring additional hardware.</a:t>
            </a:r>
            <a:endParaRPr sz="1100" dirty="0"/>
          </a:p>
        </p:txBody>
      </p:sp>
      <p:sp>
        <p:nvSpPr>
          <p:cNvPr id="2010" name="Google Shape;2010;p58"/>
          <p:cNvSpPr txBox="1">
            <a:spLocks noGrp="1"/>
          </p:cNvSpPr>
          <p:nvPr>
            <p:ph type="title" idx="7"/>
          </p:nvPr>
        </p:nvSpPr>
        <p:spPr>
          <a:xfrm>
            <a:off x="6860412" y="3786410"/>
            <a:ext cx="2389915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200" dirty="0">
                <a:latin typeface="Montserrat SemiBold" panose="00000700000000000000" pitchFamily="2" charset="0"/>
              </a:rPr>
              <a:t>Confidence-weighted smoothing for prediction stability.</a:t>
            </a:r>
            <a:endParaRPr sz="1200" dirty="0">
              <a:latin typeface="Montserrat SemiBold" panose="00000700000000000000" pitchFamily="2" charset="0"/>
            </a:endParaRPr>
          </a:p>
        </p:txBody>
      </p:sp>
      <p:sp>
        <p:nvSpPr>
          <p:cNvPr id="2011" name="Google Shape;2011;p58"/>
          <p:cNvSpPr txBox="1">
            <a:spLocks noGrp="1"/>
          </p:cNvSpPr>
          <p:nvPr>
            <p:ph type="subTitle" idx="8"/>
          </p:nvPr>
        </p:nvSpPr>
        <p:spPr>
          <a:xfrm>
            <a:off x="6932199" y="4409466"/>
            <a:ext cx="2389915" cy="11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sz="1100" dirty="0"/>
              <a:t>Ensures stable predictions despite varying confidence levels.</a:t>
            </a:r>
            <a:endParaRPr sz="1100" dirty="0"/>
          </a:p>
        </p:txBody>
      </p:sp>
      <p:sp>
        <p:nvSpPr>
          <p:cNvPr id="2012" name="Google Shape;2012;p58"/>
          <p:cNvSpPr/>
          <p:nvPr/>
        </p:nvSpPr>
        <p:spPr>
          <a:xfrm>
            <a:off x="891571" y="1517138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3" name="Google Shape;2013;p58"/>
          <p:cNvSpPr/>
          <p:nvPr/>
        </p:nvSpPr>
        <p:spPr>
          <a:xfrm>
            <a:off x="3415630" y="2747632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4" name="Google Shape;2014;p58"/>
          <p:cNvSpPr/>
          <p:nvPr/>
        </p:nvSpPr>
        <p:spPr>
          <a:xfrm>
            <a:off x="7560650" y="2713765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5" name="Google Shape;2015;p58"/>
          <p:cNvSpPr/>
          <p:nvPr/>
        </p:nvSpPr>
        <p:spPr>
          <a:xfrm>
            <a:off x="5657477" y="1505849"/>
            <a:ext cx="872400" cy="872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16" name="Google Shape;2016;p58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017" name="Google Shape;2017;p58"/>
          <p:cNvSpPr/>
          <p:nvPr/>
        </p:nvSpPr>
        <p:spPr>
          <a:xfrm>
            <a:off x="5879807" y="1728396"/>
            <a:ext cx="427722" cy="427305"/>
          </a:xfrm>
          <a:custGeom>
            <a:avLst/>
            <a:gdLst/>
            <a:ahLst/>
            <a:cxnLst/>
            <a:rect l="l" t="t" r="r" b="b"/>
            <a:pathLst>
              <a:path w="11264" h="11253" extrusionOk="0">
                <a:moveTo>
                  <a:pt x="9847" y="548"/>
                </a:moveTo>
                <a:lnTo>
                  <a:pt x="9847" y="1203"/>
                </a:lnTo>
                <a:cubicBezTo>
                  <a:pt x="9847" y="1299"/>
                  <a:pt x="9930" y="1370"/>
                  <a:pt x="10014" y="1370"/>
                </a:cubicBezTo>
                <a:lnTo>
                  <a:pt x="10669" y="1370"/>
                </a:lnTo>
                <a:lnTo>
                  <a:pt x="9252" y="2811"/>
                </a:lnTo>
                <a:lnTo>
                  <a:pt x="8656" y="2811"/>
                </a:lnTo>
                <a:lnTo>
                  <a:pt x="9609" y="1858"/>
                </a:lnTo>
                <a:cubicBezTo>
                  <a:pt x="9668" y="1799"/>
                  <a:pt x="9668" y="1703"/>
                  <a:pt x="9609" y="1620"/>
                </a:cubicBezTo>
                <a:cubicBezTo>
                  <a:pt x="9579" y="1590"/>
                  <a:pt x="9537" y="1575"/>
                  <a:pt x="9494" y="1575"/>
                </a:cubicBezTo>
                <a:cubicBezTo>
                  <a:pt x="9451" y="1575"/>
                  <a:pt x="9406" y="1590"/>
                  <a:pt x="9371" y="1620"/>
                </a:cubicBezTo>
                <a:lnTo>
                  <a:pt x="8418" y="2572"/>
                </a:lnTo>
                <a:lnTo>
                  <a:pt x="8418" y="1977"/>
                </a:lnTo>
                <a:lnTo>
                  <a:pt x="9847" y="548"/>
                </a:lnTo>
                <a:close/>
                <a:moveTo>
                  <a:pt x="4549" y="2442"/>
                </a:moveTo>
                <a:cubicBezTo>
                  <a:pt x="5668" y="2442"/>
                  <a:pt x="6680" y="2870"/>
                  <a:pt x="7430" y="3573"/>
                </a:cubicBezTo>
                <a:lnTo>
                  <a:pt x="4430" y="6561"/>
                </a:lnTo>
                <a:cubicBezTo>
                  <a:pt x="4370" y="6621"/>
                  <a:pt x="4370" y="6728"/>
                  <a:pt x="4430" y="6799"/>
                </a:cubicBezTo>
                <a:cubicBezTo>
                  <a:pt x="4465" y="6835"/>
                  <a:pt x="4513" y="6847"/>
                  <a:pt x="4549" y="6847"/>
                </a:cubicBezTo>
                <a:cubicBezTo>
                  <a:pt x="4596" y="6847"/>
                  <a:pt x="4644" y="6835"/>
                  <a:pt x="4668" y="6799"/>
                </a:cubicBezTo>
                <a:lnTo>
                  <a:pt x="5418" y="6061"/>
                </a:lnTo>
                <a:cubicBezTo>
                  <a:pt x="5549" y="6240"/>
                  <a:pt x="5620" y="6466"/>
                  <a:pt x="5620" y="6680"/>
                </a:cubicBezTo>
                <a:cubicBezTo>
                  <a:pt x="5620" y="7275"/>
                  <a:pt x="5144" y="7752"/>
                  <a:pt x="4549" y="7752"/>
                </a:cubicBezTo>
                <a:cubicBezTo>
                  <a:pt x="3953" y="7752"/>
                  <a:pt x="3477" y="7275"/>
                  <a:pt x="3477" y="6680"/>
                </a:cubicBezTo>
                <a:cubicBezTo>
                  <a:pt x="3477" y="6085"/>
                  <a:pt x="3953" y="5609"/>
                  <a:pt x="4549" y="5609"/>
                </a:cubicBezTo>
                <a:cubicBezTo>
                  <a:pt x="4608" y="5609"/>
                  <a:pt x="4680" y="5609"/>
                  <a:pt x="4739" y="5632"/>
                </a:cubicBezTo>
                <a:cubicBezTo>
                  <a:pt x="4747" y="5633"/>
                  <a:pt x="4755" y="5634"/>
                  <a:pt x="4763" y="5634"/>
                </a:cubicBezTo>
                <a:cubicBezTo>
                  <a:pt x="4848" y="5634"/>
                  <a:pt x="4920" y="5577"/>
                  <a:pt x="4942" y="5490"/>
                </a:cubicBezTo>
                <a:cubicBezTo>
                  <a:pt x="4954" y="5406"/>
                  <a:pt x="4894" y="5311"/>
                  <a:pt x="4799" y="5299"/>
                </a:cubicBezTo>
                <a:cubicBezTo>
                  <a:pt x="4715" y="5287"/>
                  <a:pt x="4620" y="5275"/>
                  <a:pt x="4549" y="5275"/>
                </a:cubicBezTo>
                <a:cubicBezTo>
                  <a:pt x="3775" y="5275"/>
                  <a:pt x="3156" y="5894"/>
                  <a:pt x="3156" y="6668"/>
                </a:cubicBezTo>
                <a:cubicBezTo>
                  <a:pt x="3156" y="7442"/>
                  <a:pt x="3775" y="8073"/>
                  <a:pt x="4549" y="8073"/>
                </a:cubicBezTo>
                <a:cubicBezTo>
                  <a:pt x="5323" y="8073"/>
                  <a:pt x="5954" y="7442"/>
                  <a:pt x="5954" y="6668"/>
                </a:cubicBezTo>
                <a:cubicBezTo>
                  <a:pt x="5954" y="6359"/>
                  <a:pt x="5847" y="6049"/>
                  <a:pt x="5656" y="5811"/>
                </a:cubicBezTo>
                <a:lnTo>
                  <a:pt x="6168" y="5287"/>
                </a:lnTo>
                <a:cubicBezTo>
                  <a:pt x="6501" y="5668"/>
                  <a:pt x="6680" y="6168"/>
                  <a:pt x="6680" y="6668"/>
                </a:cubicBezTo>
                <a:cubicBezTo>
                  <a:pt x="6680" y="7847"/>
                  <a:pt x="5727" y="8799"/>
                  <a:pt x="4549" y="8799"/>
                </a:cubicBezTo>
                <a:cubicBezTo>
                  <a:pt x="3370" y="8799"/>
                  <a:pt x="2418" y="7847"/>
                  <a:pt x="2418" y="6668"/>
                </a:cubicBezTo>
                <a:cubicBezTo>
                  <a:pt x="2418" y="5490"/>
                  <a:pt x="3370" y="4537"/>
                  <a:pt x="4549" y="4537"/>
                </a:cubicBezTo>
                <a:cubicBezTo>
                  <a:pt x="4906" y="4537"/>
                  <a:pt x="5251" y="4632"/>
                  <a:pt x="5561" y="4799"/>
                </a:cubicBezTo>
                <a:cubicBezTo>
                  <a:pt x="5583" y="4810"/>
                  <a:pt x="5608" y="4815"/>
                  <a:pt x="5635" y="4815"/>
                </a:cubicBezTo>
                <a:cubicBezTo>
                  <a:pt x="5693" y="4815"/>
                  <a:pt x="5754" y="4789"/>
                  <a:pt x="5787" y="4739"/>
                </a:cubicBezTo>
                <a:cubicBezTo>
                  <a:pt x="5835" y="4656"/>
                  <a:pt x="5799" y="4561"/>
                  <a:pt x="5727" y="4513"/>
                </a:cubicBezTo>
                <a:cubicBezTo>
                  <a:pt x="5370" y="4323"/>
                  <a:pt x="4965" y="4216"/>
                  <a:pt x="4561" y="4216"/>
                </a:cubicBezTo>
                <a:cubicBezTo>
                  <a:pt x="3215" y="4216"/>
                  <a:pt x="2108" y="5311"/>
                  <a:pt x="2108" y="6668"/>
                </a:cubicBezTo>
                <a:cubicBezTo>
                  <a:pt x="2108" y="8026"/>
                  <a:pt x="3215" y="9121"/>
                  <a:pt x="4561" y="9121"/>
                </a:cubicBezTo>
                <a:cubicBezTo>
                  <a:pt x="5918" y="9121"/>
                  <a:pt x="7025" y="8026"/>
                  <a:pt x="7025" y="6668"/>
                </a:cubicBezTo>
                <a:cubicBezTo>
                  <a:pt x="7025" y="6073"/>
                  <a:pt x="6811" y="5490"/>
                  <a:pt x="6406" y="5049"/>
                </a:cubicBezTo>
                <a:lnTo>
                  <a:pt x="6930" y="4525"/>
                </a:lnTo>
                <a:cubicBezTo>
                  <a:pt x="7466" y="5109"/>
                  <a:pt x="7752" y="5871"/>
                  <a:pt x="7752" y="6656"/>
                </a:cubicBezTo>
                <a:cubicBezTo>
                  <a:pt x="7752" y="8407"/>
                  <a:pt x="6323" y="9835"/>
                  <a:pt x="4561" y="9835"/>
                </a:cubicBezTo>
                <a:cubicBezTo>
                  <a:pt x="2810" y="9835"/>
                  <a:pt x="1382" y="8407"/>
                  <a:pt x="1382" y="6656"/>
                </a:cubicBezTo>
                <a:cubicBezTo>
                  <a:pt x="1382" y="4894"/>
                  <a:pt x="2810" y="3465"/>
                  <a:pt x="4561" y="3465"/>
                </a:cubicBezTo>
                <a:cubicBezTo>
                  <a:pt x="5180" y="3465"/>
                  <a:pt x="5775" y="3644"/>
                  <a:pt x="6275" y="3977"/>
                </a:cubicBezTo>
                <a:cubicBezTo>
                  <a:pt x="6300" y="3994"/>
                  <a:pt x="6330" y="4002"/>
                  <a:pt x="6360" y="4002"/>
                </a:cubicBezTo>
                <a:cubicBezTo>
                  <a:pt x="6415" y="4002"/>
                  <a:pt x="6471" y="3976"/>
                  <a:pt x="6501" y="3930"/>
                </a:cubicBezTo>
                <a:cubicBezTo>
                  <a:pt x="6549" y="3858"/>
                  <a:pt x="6525" y="3751"/>
                  <a:pt x="6454" y="3704"/>
                </a:cubicBezTo>
                <a:cubicBezTo>
                  <a:pt x="5894" y="3346"/>
                  <a:pt x="5239" y="3156"/>
                  <a:pt x="4561" y="3156"/>
                </a:cubicBezTo>
                <a:cubicBezTo>
                  <a:pt x="2632" y="3156"/>
                  <a:pt x="1048" y="4739"/>
                  <a:pt x="1048" y="6668"/>
                </a:cubicBezTo>
                <a:cubicBezTo>
                  <a:pt x="1048" y="8609"/>
                  <a:pt x="2632" y="10181"/>
                  <a:pt x="4561" y="10181"/>
                </a:cubicBezTo>
                <a:cubicBezTo>
                  <a:pt x="6501" y="10181"/>
                  <a:pt x="8073" y="8609"/>
                  <a:pt x="8073" y="6668"/>
                </a:cubicBezTo>
                <a:cubicBezTo>
                  <a:pt x="8073" y="5787"/>
                  <a:pt x="7752" y="4954"/>
                  <a:pt x="7156" y="4299"/>
                </a:cubicBezTo>
                <a:lnTo>
                  <a:pt x="7680" y="3787"/>
                </a:lnTo>
                <a:cubicBezTo>
                  <a:pt x="8383" y="4561"/>
                  <a:pt x="8799" y="5573"/>
                  <a:pt x="8799" y="6680"/>
                </a:cubicBezTo>
                <a:cubicBezTo>
                  <a:pt x="8799" y="9026"/>
                  <a:pt x="6894" y="10931"/>
                  <a:pt x="4549" y="10931"/>
                </a:cubicBezTo>
                <a:cubicBezTo>
                  <a:pt x="2215" y="10931"/>
                  <a:pt x="310" y="9026"/>
                  <a:pt x="310" y="6680"/>
                </a:cubicBezTo>
                <a:cubicBezTo>
                  <a:pt x="310" y="4347"/>
                  <a:pt x="2215" y="2442"/>
                  <a:pt x="4549" y="2442"/>
                </a:cubicBezTo>
                <a:close/>
                <a:moveTo>
                  <a:pt x="10023" y="1"/>
                </a:moveTo>
                <a:cubicBezTo>
                  <a:pt x="9981" y="1"/>
                  <a:pt x="9938" y="17"/>
                  <a:pt x="9907" y="48"/>
                </a:cubicBezTo>
                <a:lnTo>
                  <a:pt x="8156" y="1799"/>
                </a:lnTo>
                <a:cubicBezTo>
                  <a:pt x="8121" y="1834"/>
                  <a:pt x="8109" y="1882"/>
                  <a:pt x="8109" y="1918"/>
                </a:cubicBezTo>
                <a:lnTo>
                  <a:pt x="8109" y="2906"/>
                </a:lnTo>
                <a:lnTo>
                  <a:pt x="7680" y="3334"/>
                </a:lnTo>
                <a:cubicBezTo>
                  <a:pt x="6859" y="2572"/>
                  <a:pt x="5775" y="2120"/>
                  <a:pt x="4573" y="2120"/>
                </a:cubicBezTo>
                <a:cubicBezTo>
                  <a:pt x="2048" y="2120"/>
                  <a:pt x="1" y="4168"/>
                  <a:pt x="1" y="6680"/>
                </a:cubicBezTo>
                <a:cubicBezTo>
                  <a:pt x="1" y="9204"/>
                  <a:pt x="2048" y="11252"/>
                  <a:pt x="4573" y="11252"/>
                </a:cubicBezTo>
                <a:cubicBezTo>
                  <a:pt x="7085" y="11252"/>
                  <a:pt x="9133" y="9204"/>
                  <a:pt x="9133" y="6680"/>
                </a:cubicBezTo>
                <a:cubicBezTo>
                  <a:pt x="9133" y="5478"/>
                  <a:pt x="8680" y="4394"/>
                  <a:pt x="7918" y="3573"/>
                </a:cubicBezTo>
                <a:lnTo>
                  <a:pt x="8347" y="3144"/>
                </a:lnTo>
                <a:lnTo>
                  <a:pt x="9335" y="3144"/>
                </a:lnTo>
                <a:cubicBezTo>
                  <a:pt x="9371" y="3144"/>
                  <a:pt x="9418" y="3132"/>
                  <a:pt x="9454" y="3096"/>
                </a:cubicBezTo>
                <a:lnTo>
                  <a:pt x="11204" y="1346"/>
                </a:lnTo>
                <a:cubicBezTo>
                  <a:pt x="11252" y="1287"/>
                  <a:pt x="11264" y="1227"/>
                  <a:pt x="11240" y="1168"/>
                </a:cubicBezTo>
                <a:cubicBezTo>
                  <a:pt x="11204" y="1108"/>
                  <a:pt x="11145" y="1060"/>
                  <a:pt x="11085" y="1060"/>
                </a:cubicBezTo>
                <a:lnTo>
                  <a:pt x="10192" y="1060"/>
                </a:lnTo>
                <a:lnTo>
                  <a:pt x="10192" y="167"/>
                </a:lnTo>
                <a:cubicBezTo>
                  <a:pt x="10192" y="108"/>
                  <a:pt x="10145" y="36"/>
                  <a:pt x="10085" y="13"/>
                </a:cubicBezTo>
                <a:cubicBezTo>
                  <a:pt x="10065" y="5"/>
                  <a:pt x="10044" y="1"/>
                  <a:pt x="100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18" name="Google Shape;2018;p58"/>
          <p:cNvGrpSpPr/>
          <p:nvPr/>
        </p:nvGrpSpPr>
        <p:grpSpPr>
          <a:xfrm>
            <a:off x="7768582" y="2943088"/>
            <a:ext cx="409193" cy="391194"/>
            <a:chOff x="7441465" y="2302860"/>
            <a:chExt cx="342192" cy="327140"/>
          </a:xfrm>
        </p:grpSpPr>
        <p:sp>
          <p:nvSpPr>
            <p:cNvPr id="2019" name="Google Shape;2019;p58"/>
            <p:cNvSpPr/>
            <p:nvPr/>
          </p:nvSpPr>
          <p:spPr>
            <a:xfrm>
              <a:off x="7441465" y="2337727"/>
              <a:ext cx="299862" cy="292273"/>
            </a:xfrm>
            <a:custGeom>
              <a:avLst/>
              <a:gdLst/>
              <a:ahLst/>
              <a:cxnLst/>
              <a:rect l="l" t="t" r="r" b="b"/>
              <a:pathLst>
                <a:path w="9443" h="9204" extrusionOk="0">
                  <a:moveTo>
                    <a:pt x="8169" y="0"/>
                  </a:moveTo>
                  <a:cubicBezTo>
                    <a:pt x="7835" y="0"/>
                    <a:pt x="7514" y="131"/>
                    <a:pt x="7276" y="370"/>
                  </a:cubicBezTo>
                  <a:lnTo>
                    <a:pt x="6406" y="1251"/>
                  </a:lnTo>
                  <a:cubicBezTo>
                    <a:pt x="6347" y="1310"/>
                    <a:pt x="6347" y="1417"/>
                    <a:pt x="6406" y="1489"/>
                  </a:cubicBezTo>
                  <a:cubicBezTo>
                    <a:pt x="6436" y="1518"/>
                    <a:pt x="6475" y="1533"/>
                    <a:pt x="6517" y="1533"/>
                  </a:cubicBezTo>
                  <a:cubicBezTo>
                    <a:pt x="6558" y="1533"/>
                    <a:pt x="6603" y="1518"/>
                    <a:pt x="6645" y="1489"/>
                  </a:cubicBezTo>
                  <a:lnTo>
                    <a:pt x="7514" y="608"/>
                  </a:lnTo>
                  <a:cubicBezTo>
                    <a:pt x="7692" y="429"/>
                    <a:pt x="7930" y="346"/>
                    <a:pt x="8169" y="346"/>
                  </a:cubicBezTo>
                  <a:cubicBezTo>
                    <a:pt x="8430" y="346"/>
                    <a:pt x="8645" y="453"/>
                    <a:pt x="8823" y="608"/>
                  </a:cubicBezTo>
                  <a:cubicBezTo>
                    <a:pt x="9014" y="786"/>
                    <a:pt x="9097" y="1024"/>
                    <a:pt x="9097" y="1263"/>
                  </a:cubicBezTo>
                  <a:cubicBezTo>
                    <a:pt x="9097" y="1501"/>
                    <a:pt x="8990" y="1739"/>
                    <a:pt x="8823" y="1917"/>
                  </a:cubicBezTo>
                  <a:lnTo>
                    <a:pt x="7621" y="3132"/>
                  </a:lnTo>
                  <a:cubicBezTo>
                    <a:pt x="7502" y="2834"/>
                    <a:pt x="7323" y="2560"/>
                    <a:pt x="7109" y="2334"/>
                  </a:cubicBezTo>
                  <a:cubicBezTo>
                    <a:pt x="6639" y="1870"/>
                    <a:pt x="6022" y="1638"/>
                    <a:pt x="5408" y="1638"/>
                  </a:cubicBezTo>
                  <a:cubicBezTo>
                    <a:pt x="4793" y="1638"/>
                    <a:pt x="4180" y="1870"/>
                    <a:pt x="3716" y="2334"/>
                  </a:cubicBezTo>
                  <a:lnTo>
                    <a:pt x="941" y="5108"/>
                  </a:lnTo>
                  <a:cubicBezTo>
                    <a:pt x="1" y="6049"/>
                    <a:pt x="1" y="7561"/>
                    <a:pt x="941" y="8502"/>
                  </a:cubicBezTo>
                  <a:cubicBezTo>
                    <a:pt x="1406" y="8966"/>
                    <a:pt x="2025" y="9204"/>
                    <a:pt x="2644" y="9204"/>
                  </a:cubicBezTo>
                  <a:cubicBezTo>
                    <a:pt x="3251" y="9204"/>
                    <a:pt x="3870" y="8966"/>
                    <a:pt x="4335" y="8502"/>
                  </a:cubicBezTo>
                  <a:lnTo>
                    <a:pt x="5811" y="7025"/>
                  </a:lnTo>
                  <a:cubicBezTo>
                    <a:pt x="5871" y="6966"/>
                    <a:pt x="5871" y="6858"/>
                    <a:pt x="5811" y="6787"/>
                  </a:cubicBezTo>
                  <a:cubicBezTo>
                    <a:pt x="5783" y="6778"/>
                    <a:pt x="5750" y="6772"/>
                    <a:pt x="5716" y="6772"/>
                  </a:cubicBezTo>
                  <a:cubicBezTo>
                    <a:pt x="5662" y="6772"/>
                    <a:pt x="5605" y="6786"/>
                    <a:pt x="5561" y="6823"/>
                  </a:cubicBezTo>
                  <a:lnTo>
                    <a:pt x="4085" y="8299"/>
                  </a:lnTo>
                  <a:cubicBezTo>
                    <a:pt x="3692" y="8680"/>
                    <a:pt x="3180" y="8906"/>
                    <a:pt x="2620" y="8906"/>
                  </a:cubicBezTo>
                  <a:cubicBezTo>
                    <a:pt x="2073" y="8906"/>
                    <a:pt x="1549" y="8692"/>
                    <a:pt x="1168" y="8299"/>
                  </a:cubicBezTo>
                  <a:cubicBezTo>
                    <a:pt x="358" y="7489"/>
                    <a:pt x="358" y="6180"/>
                    <a:pt x="1168" y="5358"/>
                  </a:cubicBezTo>
                  <a:lnTo>
                    <a:pt x="3930" y="2596"/>
                  </a:lnTo>
                  <a:cubicBezTo>
                    <a:pt x="4323" y="2203"/>
                    <a:pt x="4847" y="1977"/>
                    <a:pt x="5394" y="1977"/>
                  </a:cubicBezTo>
                  <a:cubicBezTo>
                    <a:pt x="5942" y="1977"/>
                    <a:pt x="6466" y="2191"/>
                    <a:pt x="6847" y="2596"/>
                  </a:cubicBezTo>
                  <a:cubicBezTo>
                    <a:pt x="7073" y="2822"/>
                    <a:pt x="7252" y="3096"/>
                    <a:pt x="7359" y="3394"/>
                  </a:cubicBezTo>
                  <a:lnTo>
                    <a:pt x="6049" y="4703"/>
                  </a:lnTo>
                  <a:cubicBezTo>
                    <a:pt x="5871" y="4882"/>
                    <a:pt x="5633" y="4977"/>
                    <a:pt x="5394" y="4977"/>
                  </a:cubicBezTo>
                  <a:cubicBezTo>
                    <a:pt x="5156" y="4977"/>
                    <a:pt x="4918" y="4870"/>
                    <a:pt x="4740" y="4703"/>
                  </a:cubicBezTo>
                  <a:cubicBezTo>
                    <a:pt x="4644" y="4620"/>
                    <a:pt x="4573" y="4513"/>
                    <a:pt x="4525" y="4394"/>
                  </a:cubicBezTo>
                  <a:cubicBezTo>
                    <a:pt x="4507" y="4321"/>
                    <a:pt x="4440" y="4290"/>
                    <a:pt x="4378" y="4290"/>
                  </a:cubicBezTo>
                  <a:cubicBezTo>
                    <a:pt x="4359" y="4290"/>
                    <a:pt x="4340" y="4293"/>
                    <a:pt x="4323" y="4299"/>
                  </a:cubicBezTo>
                  <a:cubicBezTo>
                    <a:pt x="4239" y="4334"/>
                    <a:pt x="4204" y="4441"/>
                    <a:pt x="4228" y="4513"/>
                  </a:cubicBezTo>
                  <a:cubicBezTo>
                    <a:pt x="4287" y="4680"/>
                    <a:pt x="4394" y="4811"/>
                    <a:pt x="4513" y="4930"/>
                  </a:cubicBezTo>
                  <a:cubicBezTo>
                    <a:pt x="4751" y="5168"/>
                    <a:pt x="5061" y="5299"/>
                    <a:pt x="5406" y="5299"/>
                  </a:cubicBezTo>
                  <a:cubicBezTo>
                    <a:pt x="5752" y="5299"/>
                    <a:pt x="6061" y="5168"/>
                    <a:pt x="6299" y="4930"/>
                  </a:cubicBezTo>
                  <a:lnTo>
                    <a:pt x="9062" y="2155"/>
                  </a:lnTo>
                  <a:cubicBezTo>
                    <a:pt x="9300" y="1917"/>
                    <a:pt x="9443" y="1608"/>
                    <a:pt x="9443" y="1263"/>
                  </a:cubicBezTo>
                  <a:cubicBezTo>
                    <a:pt x="9443" y="929"/>
                    <a:pt x="9300" y="608"/>
                    <a:pt x="9062" y="370"/>
                  </a:cubicBezTo>
                  <a:cubicBezTo>
                    <a:pt x="8823" y="131"/>
                    <a:pt x="8514" y="0"/>
                    <a:pt x="816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58"/>
            <p:cNvSpPr/>
            <p:nvPr/>
          </p:nvSpPr>
          <p:spPr>
            <a:xfrm>
              <a:off x="7484588" y="2302860"/>
              <a:ext cx="299069" cy="293130"/>
            </a:xfrm>
            <a:custGeom>
              <a:avLst/>
              <a:gdLst/>
              <a:ahLst/>
              <a:cxnLst/>
              <a:rect l="l" t="t" r="r" b="b"/>
              <a:pathLst>
                <a:path w="9418" h="9231" extrusionOk="0">
                  <a:moveTo>
                    <a:pt x="6805" y="0"/>
                  </a:moveTo>
                  <a:cubicBezTo>
                    <a:pt x="6191" y="0"/>
                    <a:pt x="5578" y="235"/>
                    <a:pt x="5108" y="706"/>
                  </a:cubicBezTo>
                  <a:lnTo>
                    <a:pt x="3632" y="2170"/>
                  </a:lnTo>
                  <a:cubicBezTo>
                    <a:pt x="3572" y="2230"/>
                    <a:pt x="3572" y="2337"/>
                    <a:pt x="3632" y="2408"/>
                  </a:cubicBezTo>
                  <a:cubicBezTo>
                    <a:pt x="3661" y="2438"/>
                    <a:pt x="3703" y="2453"/>
                    <a:pt x="3746" y="2453"/>
                  </a:cubicBezTo>
                  <a:cubicBezTo>
                    <a:pt x="3789" y="2453"/>
                    <a:pt x="3834" y="2438"/>
                    <a:pt x="3870" y="2408"/>
                  </a:cubicBezTo>
                  <a:lnTo>
                    <a:pt x="5346" y="944"/>
                  </a:lnTo>
                  <a:cubicBezTo>
                    <a:pt x="5745" y="539"/>
                    <a:pt x="6272" y="336"/>
                    <a:pt x="6802" y="336"/>
                  </a:cubicBezTo>
                  <a:cubicBezTo>
                    <a:pt x="7331" y="336"/>
                    <a:pt x="7864" y="539"/>
                    <a:pt x="8275" y="944"/>
                  </a:cubicBezTo>
                  <a:cubicBezTo>
                    <a:pt x="9085" y="1741"/>
                    <a:pt x="9085" y="3051"/>
                    <a:pt x="8275" y="3873"/>
                  </a:cubicBezTo>
                  <a:lnTo>
                    <a:pt x="5513" y="6635"/>
                  </a:lnTo>
                  <a:cubicBezTo>
                    <a:pt x="5120" y="7028"/>
                    <a:pt x="4596" y="7254"/>
                    <a:pt x="4048" y="7254"/>
                  </a:cubicBezTo>
                  <a:cubicBezTo>
                    <a:pt x="3501" y="7254"/>
                    <a:pt x="2977" y="7040"/>
                    <a:pt x="2596" y="6635"/>
                  </a:cubicBezTo>
                  <a:cubicBezTo>
                    <a:pt x="2370" y="6421"/>
                    <a:pt x="2191" y="6135"/>
                    <a:pt x="2084" y="5837"/>
                  </a:cubicBezTo>
                  <a:lnTo>
                    <a:pt x="3393" y="4527"/>
                  </a:lnTo>
                  <a:cubicBezTo>
                    <a:pt x="3572" y="4349"/>
                    <a:pt x="3810" y="4254"/>
                    <a:pt x="4048" y="4254"/>
                  </a:cubicBezTo>
                  <a:cubicBezTo>
                    <a:pt x="4286" y="4254"/>
                    <a:pt x="4525" y="4361"/>
                    <a:pt x="4703" y="4527"/>
                  </a:cubicBezTo>
                  <a:cubicBezTo>
                    <a:pt x="4798" y="4611"/>
                    <a:pt x="4870" y="4718"/>
                    <a:pt x="4917" y="4837"/>
                  </a:cubicBezTo>
                  <a:cubicBezTo>
                    <a:pt x="4936" y="4910"/>
                    <a:pt x="5002" y="4941"/>
                    <a:pt x="5065" y="4941"/>
                  </a:cubicBezTo>
                  <a:cubicBezTo>
                    <a:pt x="5084" y="4941"/>
                    <a:pt x="5103" y="4938"/>
                    <a:pt x="5120" y="4932"/>
                  </a:cubicBezTo>
                  <a:cubicBezTo>
                    <a:pt x="5215" y="4897"/>
                    <a:pt x="5239" y="4789"/>
                    <a:pt x="5215" y="4718"/>
                  </a:cubicBezTo>
                  <a:cubicBezTo>
                    <a:pt x="5156" y="4551"/>
                    <a:pt x="5048" y="4420"/>
                    <a:pt x="4929" y="4301"/>
                  </a:cubicBezTo>
                  <a:cubicBezTo>
                    <a:pt x="4691" y="4063"/>
                    <a:pt x="4382" y="3932"/>
                    <a:pt x="4036" y="3932"/>
                  </a:cubicBezTo>
                  <a:cubicBezTo>
                    <a:pt x="3691" y="3932"/>
                    <a:pt x="3382" y="4063"/>
                    <a:pt x="3143" y="4301"/>
                  </a:cubicBezTo>
                  <a:lnTo>
                    <a:pt x="1786" y="5659"/>
                  </a:lnTo>
                  <a:cubicBezTo>
                    <a:pt x="1762" y="5670"/>
                    <a:pt x="1738" y="5682"/>
                    <a:pt x="1727" y="5718"/>
                  </a:cubicBezTo>
                  <a:lnTo>
                    <a:pt x="369" y="7075"/>
                  </a:lnTo>
                  <a:cubicBezTo>
                    <a:pt x="131" y="7314"/>
                    <a:pt x="0" y="7623"/>
                    <a:pt x="0" y="7968"/>
                  </a:cubicBezTo>
                  <a:cubicBezTo>
                    <a:pt x="0" y="8302"/>
                    <a:pt x="131" y="8623"/>
                    <a:pt x="369" y="8861"/>
                  </a:cubicBezTo>
                  <a:cubicBezTo>
                    <a:pt x="607" y="9099"/>
                    <a:pt x="929" y="9230"/>
                    <a:pt x="1262" y="9230"/>
                  </a:cubicBezTo>
                  <a:cubicBezTo>
                    <a:pt x="1608" y="9230"/>
                    <a:pt x="1917" y="9099"/>
                    <a:pt x="2155" y="8861"/>
                  </a:cubicBezTo>
                  <a:lnTo>
                    <a:pt x="3036" y="7980"/>
                  </a:lnTo>
                  <a:cubicBezTo>
                    <a:pt x="3096" y="7921"/>
                    <a:pt x="3096" y="7814"/>
                    <a:pt x="3036" y="7742"/>
                  </a:cubicBezTo>
                  <a:cubicBezTo>
                    <a:pt x="3006" y="7712"/>
                    <a:pt x="2965" y="7697"/>
                    <a:pt x="2922" y="7697"/>
                  </a:cubicBezTo>
                  <a:cubicBezTo>
                    <a:pt x="2879" y="7697"/>
                    <a:pt x="2834" y="7712"/>
                    <a:pt x="2798" y="7742"/>
                  </a:cubicBezTo>
                  <a:lnTo>
                    <a:pt x="1917" y="8623"/>
                  </a:lnTo>
                  <a:cubicBezTo>
                    <a:pt x="1738" y="8802"/>
                    <a:pt x="1500" y="8885"/>
                    <a:pt x="1262" y="8885"/>
                  </a:cubicBezTo>
                  <a:cubicBezTo>
                    <a:pt x="1012" y="8885"/>
                    <a:pt x="786" y="8778"/>
                    <a:pt x="607" y="8623"/>
                  </a:cubicBezTo>
                  <a:cubicBezTo>
                    <a:pt x="429" y="8445"/>
                    <a:pt x="345" y="8206"/>
                    <a:pt x="345" y="7968"/>
                  </a:cubicBezTo>
                  <a:cubicBezTo>
                    <a:pt x="345" y="7706"/>
                    <a:pt x="453" y="7492"/>
                    <a:pt x="607" y="7314"/>
                  </a:cubicBezTo>
                  <a:lnTo>
                    <a:pt x="1822" y="6099"/>
                  </a:lnTo>
                  <a:cubicBezTo>
                    <a:pt x="1941" y="6397"/>
                    <a:pt x="2119" y="6671"/>
                    <a:pt x="2334" y="6897"/>
                  </a:cubicBezTo>
                  <a:cubicBezTo>
                    <a:pt x="2786" y="7337"/>
                    <a:pt x="3393" y="7587"/>
                    <a:pt x="4036" y="7587"/>
                  </a:cubicBezTo>
                  <a:cubicBezTo>
                    <a:pt x="4679" y="7587"/>
                    <a:pt x="5287" y="7337"/>
                    <a:pt x="5727" y="6897"/>
                  </a:cubicBezTo>
                  <a:lnTo>
                    <a:pt x="8501" y="4123"/>
                  </a:lnTo>
                  <a:cubicBezTo>
                    <a:pt x="9418" y="3158"/>
                    <a:pt x="9418" y="1634"/>
                    <a:pt x="8501" y="706"/>
                  </a:cubicBezTo>
                  <a:cubicBezTo>
                    <a:pt x="8031" y="235"/>
                    <a:pt x="7418" y="0"/>
                    <a:pt x="680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1" name="Google Shape;2021;p58"/>
          <p:cNvGrpSpPr/>
          <p:nvPr/>
        </p:nvGrpSpPr>
        <p:grpSpPr>
          <a:xfrm>
            <a:off x="1103744" y="1684556"/>
            <a:ext cx="448077" cy="447242"/>
            <a:chOff x="1421638" y="4125629"/>
            <a:chExt cx="374709" cy="374010"/>
          </a:xfrm>
        </p:grpSpPr>
        <p:sp>
          <p:nvSpPr>
            <p:cNvPr id="2022" name="Google Shape;2022;p58"/>
            <p:cNvSpPr/>
            <p:nvPr/>
          </p:nvSpPr>
          <p:spPr>
            <a:xfrm>
              <a:off x="1421638" y="4265954"/>
              <a:ext cx="374709" cy="233685"/>
            </a:xfrm>
            <a:custGeom>
              <a:avLst/>
              <a:gdLst/>
              <a:ahLst/>
              <a:cxnLst/>
              <a:rect l="l" t="t" r="r" b="b"/>
              <a:pathLst>
                <a:path w="11800" h="7359" extrusionOk="0">
                  <a:moveTo>
                    <a:pt x="3180" y="3298"/>
                  </a:moveTo>
                  <a:lnTo>
                    <a:pt x="3180" y="7001"/>
                  </a:lnTo>
                  <a:lnTo>
                    <a:pt x="1691" y="7001"/>
                  </a:lnTo>
                  <a:lnTo>
                    <a:pt x="1691" y="3298"/>
                  </a:lnTo>
                  <a:close/>
                  <a:moveTo>
                    <a:pt x="6680" y="2370"/>
                  </a:moveTo>
                  <a:lnTo>
                    <a:pt x="6680" y="7001"/>
                  </a:lnTo>
                  <a:lnTo>
                    <a:pt x="5192" y="7001"/>
                  </a:lnTo>
                  <a:lnTo>
                    <a:pt x="5192" y="2370"/>
                  </a:lnTo>
                  <a:close/>
                  <a:moveTo>
                    <a:pt x="10180" y="345"/>
                  </a:moveTo>
                  <a:lnTo>
                    <a:pt x="10180" y="7001"/>
                  </a:lnTo>
                  <a:lnTo>
                    <a:pt x="8692" y="7001"/>
                  </a:lnTo>
                  <a:lnTo>
                    <a:pt x="8692" y="345"/>
                  </a:lnTo>
                  <a:close/>
                  <a:moveTo>
                    <a:pt x="8502" y="0"/>
                  </a:moveTo>
                  <a:cubicBezTo>
                    <a:pt x="8406" y="0"/>
                    <a:pt x="8323" y="84"/>
                    <a:pt x="8323" y="179"/>
                  </a:cubicBezTo>
                  <a:lnTo>
                    <a:pt x="8323" y="7001"/>
                  </a:lnTo>
                  <a:lnTo>
                    <a:pt x="7013" y="7001"/>
                  </a:lnTo>
                  <a:lnTo>
                    <a:pt x="7013" y="2203"/>
                  </a:lnTo>
                  <a:cubicBezTo>
                    <a:pt x="7013" y="2120"/>
                    <a:pt x="6930" y="2024"/>
                    <a:pt x="6835" y="2024"/>
                  </a:cubicBezTo>
                  <a:lnTo>
                    <a:pt x="4989" y="2024"/>
                  </a:lnTo>
                  <a:cubicBezTo>
                    <a:pt x="4894" y="2024"/>
                    <a:pt x="4811" y="2108"/>
                    <a:pt x="4811" y="2203"/>
                  </a:cubicBezTo>
                  <a:lnTo>
                    <a:pt x="4811" y="7001"/>
                  </a:lnTo>
                  <a:lnTo>
                    <a:pt x="3501" y="7001"/>
                  </a:lnTo>
                  <a:lnTo>
                    <a:pt x="3501" y="3132"/>
                  </a:lnTo>
                  <a:cubicBezTo>
                    <a:pt x="3501" y="3036"/>
                    <a:pt x="3418" y="2953"/>
                    <a:pt x="3322" y="2953"/>
                  </a:cubicBezTo>
                  <a:lnTo>
                    <a:pt x="1477" y="2953"/>
                  </a:lnTo>
                  <a:cubicBezTo>
                    <a:pt x="1382" y="2953"/>
                    <a:pt x="1298" y="3024"/>
                    <a:pt x="1298" y="3132"/>
                  </a:cubicBezTo>
                  <a:lnTo>
                    <a:pt x="1298" y="7001"/>
                  </a:lnTo>
                  <a:lnTo>
                    <a:pt x="179" y="7001"/>
                  </a:lnTo>
                  <a:cubicBezTo>
                    <a:pt x="84" y="7001"/>
                    <a:pt x="1" y="7073"/>
                    <a:pt x="1" y="7180"/>
                  </a:cubicBezTo>
                  <a:cubicBezTo>
                    <a:pt x="1" y="7287"/>
                    <a:pt x="72" y="7358"/>
                    <a:pt x="179" y="7358"/>
                  </a:cubicBezTo>
                  <a:lnTo>
                    <a:pt x="11597" y="7358"/>
                  </a:lnTo>
                  <a:cubicBezTo>
                    <a:pt x="11681" y="7358"/>
                    <a:pt x="11776" y="7287"/>
                    <a:pt x="11776" y="7180"/>
                  </a:cubicBezTo>
                  <a:cubicBezTo>
                    <a:pt x="11800" y="7073"/>
                    <a:pt x="11728" y="7001"/>
                    <a:pt x="11633" y="7001"/>
                  </a:cubicBezTo>
                  <a:lnTo>
                    <a:pt x="10526" y="7001"/>
                  </a:lnTo>
                  <a:lnTo>
                    <a:pt x="10526" y="179"/>
                  </a:lnTo>
                  <a:cubicBezTo>
                    <a:pt x="10526" y="95"/>
                    <a:pt x="10442" y="0"/>
                    <a:pt x="1034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58"/>
            <p:cNvSpPr/>
            <p:nvPr/>
          </p:nvSpPr>
          <p:spPr>
            <a:xfrm>
              <a:off x="1428052" y="4125629"/>
              <a:ext cx="356958" cy="215585"/>
            </a:xfrm>
            <a:custGeom>
              <a:avLst/>
              <a:gdLst/>
              <a:ahLst/>
              <a:cxnLst/>
              <a:rect l="l" t="t" r="r" b="b"/>
              <a:pathLst>
                <a:path w="11241" h="6789" extrusionOk="0">
                  <a:moveTo>
                    <a:pt x="10668" y="0"/>
                  </a:moveTo>
                  <a:cubicBezTo>
                    <a:pt x="10653" y="0"/>
                    <a:pt x="10637" y="1"/>
                    <a:pt x="10621" y="2"/>
                  </a:cubicBezTo>
                  <a:lnTo>
                    <a:pt x="9145" y="181"/>
                  </a:lnTo>
                  <a:cubicBezTo>
                    <a:pt x="8847" y="216"/>
                    <a:pt x="8633" y="490"/>
                    <a:pt x="8669" y="788"/>
                  </a:cubicBezTo>
                  <a:cubicBezTo>
                    <a:pt x="8691" y="1064"/>
                    <a:pt x="8938" y="1268"/>
                    <a:pt x="9211" y="1268"/>
                  </a:cubicBezTo>
                  <a:cubicBezTo>
                    <a:pt x="9232" y="1268"/>
                    <a:pt x="9254" y="1267"/>
                    <a:pt x="9276" y="1264"/>
                  </a:cubicBezTo>
                  <a:lnTo>
                    <a:pt x="9395" y="1252"/>
                  </a:lnTo>
                  <a:lnTo>
                    <a:pt x="9395" y="1252"/>
                  </a:lnTo>
                  <a:cubicBezTo>
                    <a:pt x="7597" y="3348"/>
                    <a:pt x="5442" y="4443"/>
                    <a:pt x="3918" y="4979"/>
                  </a:cubicBezTo>
                  <a:cubicBezTo>
                    <a:pt x="2025" y="5657"/>
                    <a:pt x="561" y="5717"/>
                    <a:pt x="537" y="5717"/>
                  </a:cubicBezTo>
                  <a:cubicBezTo>
                    <a:pt x="239" y="5729"/>
                    <a:pt x="1" y="5967"/>
                    <a:pt x="25" y="6265"/>
                  </a:cubicBezTo>
                  <a:cubicBezTo>
                    <a:pt x="37" y="6562"/>
                    <a:pt x="275" y="6789"/>
                    <a:pt x="561" y="6789"/>
                  </a:cubicBezTo>
                  <a:lnTo>
                    <a:pt x="572" y="6789"/>
                  </a:lnTo>
                  <a:cubicBezTo>
                    <a:pt x="632" y="6789"/>
                    <a:pt x="2192" y="6729"/>
                    <a:pt x="4263" y="6003"/>
                  </a:cubicBezTo>
                  <a:cubicBezTo>
                    <a:pt x="5418" y="5586"/>
                    <a:pt x="6514" y="5050"/>
                    <a:pt x="7490" y="4383"/>
                  </a:cubicBezTo>
                  <a:cubicBezTo>
                    <a:pt x="7561" y="4324"/>
                    <a:pt x="7597" y="4217"/>
                    <a:pt x="7538" y="4145"/>
                  </a:cubicBezTo>
                  <a:cubicBezTo>
                    <a:pt x="7501" y="4093"/>
                    <a:pt x="7445" y="4065"/>
                    <a:pt x="7391" y="4065"/>
                  </a:cubicBezTo>
                  <a:cubicBezTo>
                    <a:pt x="7358" y="4065"/>
                    <a:pt x="7326" y="4075"/>
                    <a:pt x="7299" y="4098"/>
                  </a:cubicBezTo>
                  <a:cubicBezTo>
                    <a:pt x="6335" y="4753"/>
                    <a:pt x="5275" y="5288"/>
                    <a:pt x="4144" y="5693"/>
                  </a:cubicBezTo>
                  <a:cubicBezTo>
                    <a:pt x="2132" y="6408"/>
                    <a:pt x="632" y="6467"/>
                    <a:pt x="561" y="6467"/>
                  </a:cubicBezTo>
                  <a:cubicBezTo>
                    <a:pt x="453" y="6467"/>
                    <a:pt x="358" y="6372"/>
                    <a:pt x="358" y="6265"/>
                  </a:cubicBezTo>
                  <a:cubicBezTo>
                    <a:pt x="358" y="6169"/>
                    <a:pt x="441" y="6074"/>
                    <a:pt x="561" y="6062"/>
                  </a:cubicBezTo>
                  <a:cubicBezTo>
                    <a:pt x="572" y="6062"/>
                    <a:pt x="2085" y="6003"/>
                    <a:pt x="4037" y="5300"/>
                  </a:cubicBezTo>
                  <a:cubicBezTo>
                    <a:pt x="5680" y="4717"/>
                    <a:pt x="8026" y="3514"/>
                    <a:pt x="9943" y="1133"/>
                  </a:cubicBezTo>
                  <a:cubicBezTo>
                    <a:pt x="10035" y="1018"/>
                    <a:pt x="9949" y="847"/>
                    <a:pt x="9813" y="847"/>
                  </a:cubicBezTo>
                  <a:cubicBezTo>
                    <a:pt x="9809" y="847"/>
                    <a:pt x="9804" y="847"/>
                    <a:pt x="9800" y="847"/>
                  </a:cubicBezTo>
                  <a:lnTo>
                    <a:pt x="9252" y="931"/>
                  </a:lnTo>
                  <a:cubicBezTo>
                    <a:pt x="9244" y="932"/>
                    <a:pt x="9236" y="932"/>
                    <a:pt x="9228" y="932"/>
                  </a:cubicBezTo>
                  <a:cubicBezTo>
                    <a:pt x="9139" y="932"/>
                    <a:pt x="9049" y="874"/>
                    <a:pt x="9038" y="776"/>
                  </a:cubicBezTo>
                  <a:cubicBezTo>
                    <a:pt x="9014" y="657"/>
                    <a:pt x="9085" y="550"/>
                    <a:pt x="9204" y="538"/>
                  </a:cubicBezTo>
                  <a:lnTo>
                    <a:pt x="10681" y="359"/>
                  </a:lnTo>
                  <a:cubicBezTo>
                    <a:pt x="10688" y="358"/>
                    <a:pt x="10696" y="358"/>
                    <a:pt x="10703" y="358"/>
                  </a:cubicBezTo>
                  <a:cubicBezTo>
                    <a:pt x="10812" y="358"/>
                    <a:pt x="10895" y="438"/>
                    <a:pt x="10895" y="550"/>
                  </a:cubicBezTo>
                  <a:lnTo>
                    <a:pt x="10895" y="2026"/>
                  </a:lnTo>
                  <a:cubicBezTo>
                    <a:pt x="10895" y="2133"/>
                    <a:pt x="10812" y="2217"/>
                    <a:pt x="10705" y="2217"/>
                  </a:cubicBezTo>
                  <a:cubicBezTo>
                    <a:pt x="10598" y="2217"/>
                    <a:pt x="10514" y="2133"/>
                    <a:pt x="10514" y="2026"/>
                  </a:cubicBezTo>
                  <a:lnTo>
                    <a:pt x="10514" y="1586"/>
                  </a:lnTo>
                  <a:cubicBezTo>
                    <a:pt x="10514" y="1502"/>
                    <a:pt x="10467" y="1443"/>
                    <a:pt x="10407" y="1419"/>
                  </a:cubicBezTo>
                  <a:cubicBezTo>
                    <a:pt x="10387" y="1409"/>
                    <a:pt x="10368" y="1405"/>
                    <a:pt x="10349" y="1405"/>
                  </a:cubicBezTo>
                  <a:cubicBezTo>
                    <a:pt x="10298" y="1405"/>
                    <a:pt x="10251" y="1435"/>
                    <a:pt x="10217" y="1478"/>
                  </a:cubicBezTo>
                  <a:cubicBezTo>
                    <a:pt x="9574" y="2264"/>
                    <a:pt x="8835" y="2979"/>
                    <a:pt x="8026" y="3610"/>
                  </a:cubicBezTo>
                  <a:cubicBezTo>
                    <a:pt x="7954" y="3669"/>
                    <a:pt x="7942" y="3764"/>
                    <a:pt x="8002" y="3848"/>
                  </a:cubicBezTo>
                  <a:cubicBezTo>
                    <a:pt x="8036" y="3888"/>
                    <a:pt x="8081" y="3910"/>
                    <a:pt x="8129" y="3910"/>
                  </a:cubicBezTo>
                  <a:cubicBezTo>
                    <a:pt x="8166" y="3910"/>
                    <a:pt x="8204" y="3897"/>
                    <a:pt x="8240" y="3872"/>
                  </a:cubicBezTo>
                  <a:cubicBezTo>
                    <a:pt x="8931" y="3336"/>
                    <a:pt x="9585" y="2729"/>
                    <a:pt x="10169" y="2062"/>
                  </a:cubicBezTo>
                  <a:cubicBezTo>
                    <a:pt x="10181" y="2336"/>
                    <a:pt x="10419" y="2574"/>
                    <a:pt x="10705" y="2574"/>
                  </a:cubicBezTo>
                  <a:cubicBezTo>
                    <a:pt x="11002" y="2574"/>
                    <a:pt x="11240" y="2336"/>
                    <a:pt x="11240" y="2038"/>
                  </a:cubicBezTo>
                  <a:lnTo>
                    <a:pt x="11240" y="573"/>
                  </a:lnTo>
                  <a:cubicBezTo>
                    <a:pt x="11240" y="395"/>
                    <a:pt x="11169" y="240"/>
                    <a:pt x="11050" y="133"/>
                  </a:cubicBezTo>
                  <a:cubicBezTo>
                    <a:pt x="10943" y="47"/>
                    <a:pt x="10807" y="0"/>
                    <a:pt x="106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58"/>
          <p:cNvGrpSpPr/>
          <p:nvPr/>
        </p:nvGrpSpPr>
        <p:grpSpPr>
          <a:xfrm>
            <a:off x="3634834" y="2952142"/>
            <a:ext cx="411433" cy="440824"/>
            <a:chOff x="4149138" y="4121151"/>
            <a:chExt cx="344065" cy="368644"/>
          </a:xfrm>
        </p:grpSpPr>
        <p:sp>
          <p:nvSpPr>
            <p:cNvPr id="2025" name="Google Shape;2025;p58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58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58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58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58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58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58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58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58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58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58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58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" name="Google Shape;187;p40">
            <a:extLst>
              <a:ext uri="{FF2B5EF4-FFF2-40B4-BE49-F238E27FC236}">
                <a16:creationId xmlns:a16="http://schemas.microsoft.com/office/drawing/2014/main" id="{D4413EA9-C379-A6C9-822B-120D5C3C4C5A}"/>
              </a:ext>
            </a:extLst>
          </p:cNvPr>
          <p:cNvCxnSpPr>
            <a:cxnSpLocks/>
          </p:cNvCxnSpPr>
          <p:nvPr/>
        </p:nvCxnSpPr>
        <p:spPr>
          <a:xfrm>
            <a:off x="903111" y="3133054"/>
            <a:ext cx="86325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4" name="Google Shape;187;p40">
            <a:extLst>
              <a:ext uri="{FF2B5EF4-FFF2-40B4-BE49-F238E27FC236}">
                <a16:creationId xmlns:a16="http://schemas.microsoft.com/office/drawing/2014/main" id="{C4F5C9D6-872F-9520-48C8-7078FE5CBA53}"/>
              </a:ext>
            </a:extLst>
          </p:cNvPr>
          <p:cNvCxnSpPr>
            <a:cxnSpLocks/>
          </p:cNvCxnSpPr>
          <p:nvPr/>
        </p:nvCxnSpPr>
        <p:spPr>
          <a:xfrm>
            <a:off x="3461506" y="4311633"/>
            <a:ext cx="86325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7" name="Google Shape;187;p40">
            <a:extLst>
              <a:ext uri="{FF2B5EF4-FFF2-40B4-BE49-F238E27FC236}">
                <a16:creationId xmlns:a16="http://schemas.microsoft.com/office/drawing/2014/main" id="{D01A9748-2E10-695D-3D13-03429EA008BC}"/>
              </a:ext>
            </a:extLst>
          </p:cNvPr>
          <p:cNvCxnSpPr>
            <a:cxnSpLocks/>
          </p:cNvCxnSpPr>
          <p:nvPr/>
        </p:nvCxnSpPr>
        <p:spPr>
          <a:xfrm>
            <a:off x="5598427" y="3098442"/>
            <a:ext cx="86325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8" name="Google Shape;187;p40">
            <a:extLst>
              <a:ext uri="{FF2B5EF4-FFF2-40B4-BE49-F238E27FC236}">
                <a16:creationId xmlns:a16="http://schemas.microsoft.com/office/drawing/2014/main" id="{838463C8-E073-045D-4770-AB1EB0E877E8}"/>
              </a:ext>
            </a:extLst>
          </p:cNvPr>
          <p:cNvCxnSpPr>
            <a:cxnSpLocks/>
          </p:cNvCxnSpPr>
          <p:nvPr/>
        </p:nvCxnSpPr>
        <p:spPr>
          <a:xfrm>
            <a:off x="7598888" y="4385010"/>
            <a:ext cx="86325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1" name="Google Shape;2071;p61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072" name="Google Shape;2072;p61"/>
          <p:cNvSpPr txBox="1">
            <a:spLocks noGrp="1"/>
          </p:cNvSpPr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Face Module:</a:t>
            </a:r>
            <a:endParaRPr dirty="0"/>
          </a:p>
        </p:txBody>
      </p:sp>
      <p:sp>
        <p:nvSpPr>
          <p:cNvPr id="2073" name="Google Shape;2073;p61"/>
          <p:cNvSpPr txBox="1">
            <a:spLocks noGrp="1"/>
          </p:cNvSpPr>
          <p:nvPr>
            <p:ph type="subTitle" idx="1"/>
          </p:nvPr>
        </p:nvSpPr>
        <p:spPr>
          <a:xfrm>
            <a:off x="3410260" y="2324765"/>
            <a:ext cx="2240394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000" dirty="0"/>
              <a:t>Lightweight grayscale CNN</a:t>
            </a:r>
            <a:br>
              <a:rPr lang="en-US" sz="1000" dirty="0"/>
            </a:br>
            <a:r>
              <a:rPr lang="en-US" sz="1000" dirty="0"/>
              <a:t>→ Detects and recognizes facial emotions.</a:t>
            </a:r>
            <a:endParaRPr sz="1000" dirty="0"/>
          </a:p>
        </p:txBody>
      </p:sp>
      <p:sp>
        <p:nvSpPr>
          <p:cNvPr id="2074" name="Google Shape;2074;p61"/>
          <p:cNvSpPr txBox="1">
            <a:spLocks noGrp="1"/>
          </p:cNvSpPr>
          <p:nvPr>
            <p:ph type="title" idx="2"/>
          </p:nvPr>
        </p:nvSpPr>
        <p:spPr>
          <a:xfrm>
            <a:off x="5904374" y="1818541"/>
            <a:ext cx="2438114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Posture Module:</a:t>
            </a:r>
            <a:endParaRPr dirty="0"/>
          </a:p>
        </p:txBody>
      </p:sp>
      <p:sp>
        <p:nvSpPr>
          <p:cNvPr id="2075" name="Google Shape;2075;p61"/>
          <p:cNvSpPr txBox="1">
            <a:spLocks noGrp="1"/>
          </p:cNvSpPr>
          <p:nvPr>
            <p:ph type="subTitle" idx="3"/>
          </p:nvPr>
        </p:nvSpPr>
        <p:spPr>
          <a:xfrm>
            <a:off x="6096286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900" dirty="0" err="1"/>
              <a:t>MediaPipe</a:t>
            </a:r>
            <a:r>
              <a:rPr lang="en-US" sz="900" dirty="0"/>
              <a:t> + GWO, GOA, PSO</a:t>
            </a:r>
            <a:br>
              <a:rPr lang="en-US" sz="900" dirty="0"/>
            </a:br>
            <a:r>
              <a:rPr lang="en-US" sz="900" dirty="0"/>
              <a:t>→ Analyzes posture and its emotional impact.</a:t>
            </a:r>
            <a:endParaRPr sz="900" dirty="0"/>
          </a:p>
        </p:txBody>
      </p:sp>
      <p:sp>
        <p:nvSpPr>
          <p:cNvPr id="2076" name="Google Shape;2076;p61"/>
          <p:cNvSpPr txBox="1">
            <a:spLocks noGrp="1"/>
          </p:cNvSpPr>
          <p:nvPr>
            <p:ph type="title" idx="5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Input:</a:t>
            </a:r>
            <a:endParaRPr dirty="0"/>
          </a:p>
        </p:txBody>
      </p:sp>
      <p:sp>
        <p:nvSpPr>
          <p:cNvPr id="2077" name="Google Shape;2077;p61"/>
          <p:cNvSpPr txBox="1">
            <a:spLocks noGrp="1"/>
          </p:cNvSpPr>
          <p:nvPr>
            <p:ph type="subTitle" idx="6"/>
          </p:nvPr>
        </p:nvSpPr>
        <p:spPr>
          <a:xfrm>
            <a:off x="1010312" y="2335961"/>
            <a:ext cx="2316657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000" dirty="0"/>
              <a:t>Real-time or stored video frames processed by three modules — Face, Posture, and Gaze.</a:t>
            </a:r>
            <a:endParaRPr sz="1000" dirty="0"/>
          </a:p>
        </p:txBody>
      </p:sp>
      <p:sp>
        <p:nvSpPr>
          <p:cNvPr id="2078" name="Google Shape;2078;p61"/>
          <p:cNvSpPr txBox="1">
            <a:spLocks noGrp="1"/>
          </p:cNvSpPr>
          <p:nvPr>
            <p:ph type="title" idx="7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Fusion Layer:</a:t>
            </a:r>
            <a:endParaRPr dirty="0"/>
          </a:p>
        </p:txBody>
      </p:sp>
      <p:sp>
        <p:nvSpPr>
          <p:cNvPr id="2079" name="Google Shape;2079;p61"/>
          <p:cNvSpPr txBox="1">
            <a:spLocks noGrp="1"/>
          </p:cNvSpPr>
          <p:nvPr>
            <p:ph type="subTitle" idx="8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000" dirty="0"/>
              <a:t>Confidence-weighted temporal smoothing (EMA)</a:t>
            </a:r>
            <a:br>
              <a:rPr lang="en-US" sz="1000" dirty="0"/>
            </a:br>
            <a:r>
              <a:rPr lang="en-US" sz="1000" dirty="0"/>
              <a:t>→ Ensures stable, reliable predictions.</a:t>
            </a:r>
            <a:endParaRPr sz="1000" dirty="0"/>
          </a:p>
        </p:txBody>
      </p:sp>
      <p:sp>
        <p:nvSpPr>
          <p:cNvPr id="2080" name="Google Shape;2080;p61"/>
          <p:cNvSpPr txBox="1">
            <a:spLocks noGrp="1"/>
          </p:cNvSpPr>
          <p:nvPr>
            <p:ph type="title" idx="9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Output:</a:t>
            </a:r>
            <a:endParaRPr dirty="0"/>
          </a:p>
        </p:txBody>
      </p:sp>
      <p:sp>
        <p:nvSpPr>
          <p:cNvPr id="2081" name="Google Shape;2081;p61"/>
          <p:cNvSpPr txBox="1">
            <a:spLocks noGrp="1"/>
          </p:cNvSpPr>
          <p:nvPr>
            <p:ph type="subTitle" idx="13"/>
          </p:nvPr>
        </p:nvSpPr>
        <p:spPr>
          <a:xfrm>
            <a:off x="5650654" y="3831259"/>
            <a:ext cx="2968692" cy="11245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000" dirty="0"/>
              <a:t>Annotated video frames with overlays for:</a:t>
            </a:r>
          </a:p>
          <a:p>
            <a:endParaRPr lang="en-US" sz="1000" dirty="0"/>
          </a:p>
          <a:p>
            <a:pPr marL="114300" indent="0"/>
            <a:r>
              <a:rPr lang="en-US" sz="1000" dirty="0"/>
              <a:t> Emotion</a:t>
            </a:r>
          </a:p>
          <a:p>
            <a:pPr marL="114300" indent="0"/>
            <a:r>
              <a:rPr lang="en-US" sz="1000" dirty="0"/>
              <a:t>   Posture</a:t>
            </a:r>
          </a:p>
          <a:p>
            <a:pPr marL="114300" indent="0"/>
            <a:r>
              <a:rPr lang="en-US" sz="1000" dirty="0"/>
              <a:t>Gaze direction</a:t>
            </a:r>
          </a:p>
        </p:txBody>
      </p:sp>
      <p:sp>
        <p:nvSpPr>
          <p:cNvPr id="2082" name="Google Shape;2082;p61"/>
          <p:cNvSpPr txBox="1">
            <a:spLocks noGrp="1"/>
          </p:cNvSpPr>
          <p:nvPr>
            <p:ph type="title" idx="14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Gaze Module:</a:t>
            </a:r>
            <a:endParaRPr dirty="0"/>
          </a:p>
        </p:txBody>
      </p:sp>
      <p:sp>
        <p:nvSpPr>
          <p:cNvPr id="2083" name="Google Shape;2083;p61"/>
          <p:cNvSpPr txBox="1">
            <a:spLocks noGrp="1"/>
          </p:cNvSpPr>
          <p:nvPr>
            <p:ph type="subTitle" idx="15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000" dirty="0"/>
              <a:t>Camera-based inference</a:t>
            </a:r>
            <a:br>
              <a:rPr lang="en-US" sz="1000" dirty="0"/>
            </a:br>
            <a:r>
              <a:rPr lang="en-US" sz="1000" dirty="0"/>
              <a:t>→ Estimates cognitive/mental state from gaze.</a:t>
            </a:r>
            <a:endParaRPr sz="1000" dirty="0"/>
          </a:p>
        </p:txBody>
      </p:sp>
      <p:cxnSp>
        <p:nvCxnSpPr>
          <p:cNvPr id="2084" name="Google Shape;2084;p61"/>
          <p:cNvCxnSpPr/>
          <p:nvPr/>
        </p:nvCxnSpPr>
        <p:spPr>
          <a:xfrm>
            <a:off x="1218450" y="3138821"/>
            <a:ext cx="670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Google Shape;9707;p77">
            <a:extLst>
              <a:ext uri="{FF2B5EF4-FFF2-40B4-BE49-F238E27FC236}">
                <a16:creationId xmlns:a16="http://schemas.microsoft.com/office/drawing/2014/main" id="{0CBABFDF-24BD-9649-DF51-4B116530F311}"/>
              </a:ext>
            </a:extLst>
          </p:cNvPr>
          <p:cNvSpPr/>
          <p:nvPr/>
        </p:nvSpPr>
        <p:spPr>
          <a:xfrm rot="10800000">
            <a:off x="1246432" y="1942767"/>
            <a:ext cx="293891" cy="293845"/>
          </a:xfrm>
          <a:custGeom>
            <a:avLst/>
            <a:gdLst/>
            <a:ahLst/>
            <a:cxnLst/>
            <a:rect l="l" t="t" r="r" b="b"/>
            <a:pathLst>
              <a:path w="19240" h="19237" extrusionOk="0">
                <a:moveTo>
                  <a:pt x="1" y="0"/>
                </a:moveTo>
                <a:lnTo>
                  <a:pt x="1" y="9618"/>
                </a:lnTo>
                <a:cubicBezTo>
                  <a:pt x="1" y="14929"/>
                  <a:pt x="4308" y="19236"/>
                  <a:pt x="9619" y="19236"/>
                </a:cubicBezTo>
                <a:cubicBezTo>
                  <a:pt x="14933" y="19236"/>
                  <a:pt x="19240" y="14929"/>
                  <a:pt x="19240" y="9618"/>
                </a:cubicBezTo>
                <a:cubicBezTo>
                  <a:pt x="19240" y="4307"/>
                  <a:pt x="14933" y="0"/>
                  <a:pt x="961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5B4A69-6E57-F53C-7295-479B10DFF86F}"/>
              </a:ext>
            </a:extLst>
          </p:cNvPr>
          <p:cNvSpPr txBox="1"/>
          <p:nvPr/>
        </p:nvSpPr>
        <p:spPr>
          <a:xfrm>
            <a:off x="1195959" y="1951699"/>
            <a:ext cx="377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tx1"/>
                </a:solidFill>
              </a:rPr>
              <a:t>01</a:t>
            </a:r>
          </a:p>
        </p:txBody>
      </p:sp>
      <p:sp>
        <p:nvSpPr>
          <p:cNvPr id="7" name="Google Shape;9707;p77">
            <a:extLst>
              <a:ext uri="{FF2B5EF4-FFF2-40B4-BE49-F238E27FC236}">
                <a16:creationId xmlns:a16="http://schemas.microsoft.com/office/drawing/2014/main" id="{4D239A92-506D-17C0-7A6F-88EF1AF5349E}"/>
              </a:ext>
            </a:extLst>
          </p:cNvPr>
          <p:cNvSpPr/>
          <p:nvPr/>
        </p:nvSpPr>
        <p:spPr>
          <a:xfrm rot="10800000">
            <a:off x="5757428" y="1958874"/>
            <a:ext cx="293891" cy="293845"/>
          </a:xfrm>
          <a:custGeom>
            <a:avLst/>
            <a:gdLst/>
            <a:ahLst/>
            <a:cxnLst/>
            <a:rect l="l" t="t" r="r" b="b"/>
            <a:pathLst>
              <a:path w="19240" h="19237" extrusionOk="0">
                <a:moveTo>
                  <a:pt x="1" y="0"/>
                </a:moveTo>
                <a:lnTo>
                  <a:pt x="1" y="9618"/>
                </a:lnTo>
                <a:cubicBezTo>
                  <a:pt x="1" y="14929"/>
                  <a:pt x="4308" y="19236"/>
                  <a:pt x="9619" y="19236"/>
                </a:cubicBezTo>
                <a:cubicBezTo>
                  <a:pt x="14933" y="19236"/>
                  <a:pt x="19240" y="14929"/>
                  <a:pt x="19240" y="9618"/>
                </a:cubicBezTo>
                <a:cubicBezTo>
                  <a:pt x="19240" y="4307"/>
                  <a:pt x="14933" y="0"/>
                  <a:pt x="961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707;p77">
            <a:extLst>
              <a:ext uri="{FF2B5EF4-FFF2-40B4-BE49-F238E27FC236}">
                <a16:creationId xmlns:a16="http://schemas.microsoft.com/office/drawing/2014/main" id="{4C37ADAE-FABE-0711-09D2-B0E6774D2A8C}"/>
              </a:ext>
            </a:extLst>
          </p:cNvPr>
          <p:cNvSpPr/>
          <p:nvPr/>
        </p:nvSpPr>
        <p:spPr>
          <a:xfrm rot="10800000">
            <a:off x="3346394" y="1953388"/>
            <a:ext cx="293891" cy="293845"/>
          </a:xfrm>
          <a:custGeom>
            <a:avLst/>
            <a:gdLst/>
            <a:ahLst/>
            <a:cxnLst/>
            <a:rect l="l" t="t" r="r" b="b"/>
            <a:pathLst>
              <a:path w="19240" h="19237" extrusionOk="0">
                <a:moveTo>
                  <a:pt x="1" y="0"/>
                </a:moveTo>
                <a:lnTo>
                  <a:pt x="1" y="9618"/>
                </a:lnTo>
                <a:cubicBezTo>
                  <a:pt x="1" y="14929"/>
                  <a:pt x="4308" y="19236"/>
                  <a:pt x="9619" y="19236"/>
                </a:cubicBezTo>
                <a:cubicBezTo>
                  <a:pt x="14933" y="19236"/>
                  <a:pt x="19240" y="14929"/>
                  <a:pt x="19240" y="9618"/>
                </a:cubicBezTo>
                <a:cubicBezTo>
                  <a:pt x="19240" y="4307"/>
                  <a:pt x="14933" y="0"/>
                  <a:pt x="961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9707;p77">
            <a:extLst>
              <a:ext uri="{FF2B5EF4-FFF2-40B4-BE49-F238E27FC236}">
                <a16:creationId xmlns:a16="http://schemas.microsoft.com/office/drawing/2014/main" id="{25A844B8-0D5F-439D-D9B2-F1D87FFD9ABE}"/>
              </a:ext>
            </a:extLst>
          </p:cNvPr>
          <p:cNvSpPr/>
          <p:nvPr/>
        </p:nvSpPr>
        <p:spPr>
          <a:xfrm rot="10800000">
            <a:off x="827613" y="3452312"/>
            <a:ext cx="293891" cy="293845"/>
          </a:xfrm>
          <a:custGeom>
            <a:avLst/>
            <a:gdLst/>
            <a:ahLst/>
            <a:cxnLst/>
            <a:rect l="l" t="t" r="r" b="b"/>
            <a:pathLst>
              <a:path w="19240" h="19237" extrusionOk="0">
                <a:moveTo>
                  <a:pt x="1" y="0"/>
                </a:moveTo>
                <a:lnTo>
                  <a:pt x="1" y="9618"/>
                </a:lnTo>
                <a:cubicBezTo>
                  <a:pt x="1" y="14929"/>
                  <a:pt x="4308" y="19236"/>
                  <a:pt x="9619" y="19236"/>
                </a:cubicBezTo>
                <a:cubicBezTo>
                  <a:pt x="14933" y="19236"/>
                  <a:pt x="19240" y="14929"/>
                  <a:pt x="19240" y="9618"/>
                </a:cubicBezTo>
                <a:cubicBezTo>
                  <a:pt x="19240" y="4307"/>
                  <a:pt x="14933" y="0"/>
                  <a:pt x="961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9707;p77">
            <a:extLst>
              <a:ext uri="{FF2B5EF4-FFF2-40B4-BE49-F238E27FC236}">
                <a16:creationId xmlns:a16="http://schemas.microsoft.com/office/drawing/2014/main" id="{BFA65AF8-3B34-38C0-C925-CF4C1950031C}"/>
              </a:ext>
            </a:extLst>
          </p:cNvPr>
          <p:cNvSpPr/>
          <p:nvPr/>
        </p:nvSpPr>
        <p:spPr>
          <a:xfrm rot="10800000">
            <a:off x="3290630" y="3482985"/>
            <a:ext cx="293891" cy="293845"/>
          </a:xfrm>
          <a:custGeom>
            <a:avLst/>
            <a:gdLst/>
            <a:ahLst/>
            <a:cxnLst/>
            <a:rect l="l" t="t" r="r" b="b"/>
            <a:pathLst>
              <a:path w="19240" h="19237" extrusionOk="0">
                <a:moveTo>
                  <a:pt x="1" y="0"/>
                </a:moveTo>
                <a:lnTo>
                  <a:pt x="1" y="9618"/>
                </a:lnTo>
                <a:cubicBezTo>
                  <a:pt x="1" y="14929"/>
                  <a:pt x="4308" y="19236"/>
                  <a:pt x="9619" y="19236"/>
                </a:cubicBezTo>
                <a:cubicBezTo>
                  <a:pt x="14933" y="19236"/>
                  <a:pt x="19240" y="14929"/>
                  <a:pt x="19240" y="9618"/>
                </a:cubicBezTo>
                <a:cubicBezTo>
                  <a:pt x="19240" y="4307"/>
                  <a:pt x="14933" y="0"/>
                  <a:pt x="961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9707;p77">
            <a:extLst>
              <a:ext uri="{FF2B5EF4-FFF2-40B4-BE49-F238E27FC236}">
                <a16:creationId xmlns:a16="http://schemas.microsoft.com/office/drawing/2014/main" id="{9993C71B-AE10-FF0D-F673-71486D409A14}"/>
              </a:ext>
            </a:extLst>
          </p:cNvPr>
          <p:cNvSpPr/>
          <p:nvPr/>
        </p:nvSpPr>
        <p:spPr>
          <a:xfrm rot="10800000">
            <a:off x="6118296" y="3498123"/>
            <a:ext cx="293891" cy="293845"/>
          </a:xfrm>
          <a:custGeom>
            <a:avLst/>
            <a:gdLst/>
            <a:ahLst/>
            <a:cxnLst/>
            <a:rect l="l" t="t" r="r" b="b"/>
            <a:pathLst>
              <a:path w="19240" h="19237" extrusionOk="0">
                <a:moveTo>
                  <a:pt x="1" y="0"/>
                </a:moveTo>
                <a:lnTo>
                  <a:pt x="1" y="9618"/>
                </a:lnTo>
                <a:cubicBezTo>
                  <a:pt x="1" y="14929"/>
                  <a:pt x="4308" y="19236"/>
                  <a:pt x="9619" y="19236"/>
                </a:cubicBezTo>
                <a:cubicBezTo>
                  <a:pt x="14933" y="19236"/>
                  <a:pt x="19240" y="14929"/>
                  <a:pt x="19240" y="9618"/>
                </a:cubicBezTo>
                <a:cubicBezTo>
                  <a:pt x="19240" y="4307"/>
                  <a:pt x="14933" y="0"/>
                  <a:pt x="961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9E55A0-991E-9434-6000-C92F42BA7FE4}"/>
              </a:ext>
            </a:extLst>
          </p:cNvPr>
          <p:cNvSpPr txBox="1"/>
          <p:nvPr/>
        </p:nvSpPr>
        <p:spPr>
          <a:xfrm>
            <a:off x="3330129" y="1980815"/>
            <a:ext cx="377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tx1"/>
                </a:solidFill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67558D-2425-0A38-7EBB-FFADC375CBFC}"/>
              </a:ext>
            </a:extLst>
          </p:cNvPr>
          <p:cNvSpPr txBox="1"/>
          <p:nvPr/>
        </p:nvSpPr>
        <p:spPr>
          <a:xfrm>
            <a:off x="821660" y="3473515"/>
            <a:ext cx="377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tx1"/>
                </a:solidFill>
              </a:rPr>
              <a:t>04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2BF2F2-1134-9E35-8F7E-01970BCC93B9}"/>
              </a:ext>
            </a:extLst>
          </p:cNvPr>
          <p:cNvSpPr txBox="1"/>
          <p:nvPr/>
        </p:nvSpPr>
        <p:spPr>
          <a:xfrm>
            <a:off x="3256099" y="3514969"/>
            <a:ext cx="377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</a:rPr>
              <a:t>0</a:t>
            </a:r>
            <a:r>
              <a:rPr lang="en-IN" sz="1200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6C7B45-9A9F-3C92-0A2F-328A1F91D2A0}"/>
              </a:ext>
            </a:extLst>
          </p:cNvPr>
          <p:cNvSpPr txBox="1"/>
          <p:nvPr/>
        </p:nvSpPr>
        <p:spPr>
          <a:xfrm>
            <a:off x="6107576" y="3519502"/>
            <a:ext cx="4953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tx1"/>
                </a:solidFill>
              </a:rPr>
              <a:t>06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C4071D-2F7C-919A-0FDB-596ADEAF4FC0}"/>
              </a:ext>
            </a:extLst>
          </p:cNvPr>
          <p:cNvSpPr txBox="1"/>
          <p:nvPr/>
        </p:nvSpPr>
        <p:spPr>
          <a:xfrm>
            <a:off x="5741154" y="1996015"/>
            <a:ext cx="3776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solidFill>
                  <a:schemeClr val="tx1"/>
                </a:solidFill>
              </a:rPr>
              <a:t>03</a:t>
            </a:r>
          </a:p>
        </p:txBody>
      </p:sp>
      <p:sp>
        <p:nvSpPr>
          <p:cNvPr id="3" name="Google Shape;2003;p58">
            <a:extLst>
              <a:ext uri="{FF2B5EF4-FFF2-40B4-BE49-F238E27FC236}">
                <a16:creationId xmlns:a16="http://schemas.microsoft.com/office/drawing/2014/main" id="{D38DA5F6-58F4-C579-FCD0-058254C0A8EE}"/>
              </a:ext>
            </a:extLst>
          </p:cNvPr>
          <p:cNvSpPr txBox="1">
            <a:spLocks/>
          </p:cNvSpPr>
          <p:nvPr/>
        </p:nvSpPr>
        <p:spPr>
          <a:xfrm>
            <a:off x="824093" y="445025"/>
            <a:ext cx="6818485" cy="9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IN" sz="4000" dirty="0">
                <a:solidFill>
                  <a:schemeClr val="tx2"/>
                </a:solidFill>
              </a:rPr>
              <a:t>05 </a:t>
            </a:r>
            <a:r>
              <a:rPr lang="en-IN" sz="3600" dirty="0">
                <a:solidFill>
                  <a:schemeClr val="tx2"/>
                </a:solidFill>
              </a:rPr>
              <a:t>Proposed </a:t>
            </a:r>
            <a:r>
              <a:rPr lang="en-US" sz="3600" dirty="0">
                <a:solidFill>
                  <a:schemeClr val="tx2"/>
                </a:solidFill>
              </a:rPr>
              <a:t>Methodology</a:t>
            </a:r>
            <a:endParaRPr lang="en-IN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63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043600" cy="5757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Facial Module</a:t>
            </a:r>
            <a:endParaRPr lang="en-IN" sz="3200" dirty="0"/>
          </a:p>
        </p:txBody>
      </p:sp>
      <p:cxnSp>
        <p:nvCxnSpPr>
          <p:cNvPr id="2106" name="Google Shape;2106;p63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107" name="Google Shape;2107;p63"/>
          <p:cNvCxnSpPr>
            <a:cxnSpLocks/>
          </p:cNvCxnSpPr>
          <p:nvPr/>
        </p:nvCxnSpPr>
        <p:spPr>
          <a:xfrm>
            <a:off x="335342" y="1589861"/>
            <a:ext cx="169522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108" name="Google Shape;2108;p63"/>
          <p:cNvCxnSpPr/>
          <p:nvPr/>
        </p:nvCxnSpPr>
        <p:spPr>
          <a:xfrm>
            <a:off x="5434886" y="1581764"/>
            <a:ext cx="0" cy="2964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EB843747-AE58-9BCF-2917-AACDC3C685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0" y="1195924"/>
            <a:ext cx="2100913" cy="605400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Working Steps :</a:t>
            </a:r>
            <a:endParaRPr lang="en-IN" b="1" dirty="0">
              <a:solidFill>
                <a:srgbClr val="FFC000"/>
              </a:solidFill>
            </a:endParaRP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E6B70BD6-6246-47DD-E8EF-86E31A3DF00C}"/>
              </a:ext>
            </a:extLst>
          </p:cNvPr>
          <p:cNvSpPr>
            <a:spLocks noGrp="1" noChangeArrowheads="1"/>
          </p:cNvSpPr>
          <p:nvPr>
            <p:ph type="title" idx="2"/>
          </p:nvPr>
        </p:nvSpPr>
        <p:spPr bwMode="auto">
          <a:xfrm>
            <a:off x="141289" y="1670686"/>
            <a:ext cx="5362772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Face Detection: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system quickly locates faces in each video frame using an efficient object detector.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Crop Extraction: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Only the detected face areas are cropped and passed on for detailed analysis.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Grayscale Conversion: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Each cropped face image is converted to grayscale to reduce memory and computation.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Fast CNN Emotion Classification: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 lightweight neural network rapidly classifies the emotion shown in the face.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Edge Optimization: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whole process is designed for real-time use on low-power devices, maintaining strong accuracy between different expressions.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901B07B4-F161-515D-9E78-39DC8E65E7DB}"/>
              </a:ext>
            </a:extLst>
          </p:cNvPr>
          <p:cNvSpPr txBox="1">
            <a:spLocks/>
          </p:cNvSpPr>
          <p:nvPr/>
        </p:nvSpPr>
        <p:spPr>
          <a:xfrm>
            <a:off x="5564956" y="1195924"/>
            <a:ext cx="1613663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b="1" dirty="0">
                <a:solidFill>
                  <a:srgbClr val="FFC000"/>
                </a:solidFill>
              </a:rPr>
              <a:t>Algorithm : </a:t>
            </a:r>
            <a:endParaRPr lang="en-IN" b="1" dirty="0">
              <a:solidFill>
                <a:srgbClr val="FFC000"/>
              </a:solidFill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1FC26DFE-5881-66F8-8235-8F64754ED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4130" y="1705310"/>
            <a:ext cx="3414975" cy="2885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ExtraBold"/>
              <a:buNone/>
              <a:defRPr sz="14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 err="1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VideoEmotionAndPostureAnalysis</a:t>
            </a: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(</a:t>
            </a:r>
            <a:r>
              <a:rPr lang="en-US" altLang="en-US" sz="1100" dirty="0" err="1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input_path</a:t>
            </a: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1: </a:t>
            </a:r>
            <a:r>
              <a:rPr lang="en-US" altLang="en-US" sz="1100" dirty="0" err="1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InitializeIO</a:t>
            </a: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(</a:t>
            </a:r>
            <a:r>
              <a:rPr lang="en-US" altLang="en-US" sz="1100" dirty="0" err="1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input_path</a:t>
            </a: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2: for each frame in video: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3:  posture ← </a:t>
            </a:r>
            <a:r>
              <a:rPr lang="en-US" altLang="en-US" sz="1100" dirty="0" err="1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EstimatePose</a:t>
            </a: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(frame)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4:  emotion ← </a:t>
            </a:r>
            <a:r>
              <a:rPr lang="en-US" altLang="en-US" sz="1100" dirty="0" err="1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DetectEmotion</a:t>
            </a: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(frame)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5:  </a:t>
            </a:r>
            <a:r>
              <a:rPr lang="en-US" altLang="en-US" sz="1100" dirty="0" err="1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UpdateCounts</a:t>
            </a: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(emotion)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6:  Annotate(frame, emotion, posture)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7:  </a:t>
            </a:r>
            <a:r>
              <a:rPr lang="en-US" altLang="en-US" sz="1100" dirty="0" err="1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WriteFrame</a:t>
            </a: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(Combine(frame,    </a:t>
            </a:r>
            <a:r>
              <a:rPr lang="en-US" altLang="en-US" sz="1100" dirty="0" err="1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UpdateEmotionGraphs</a:t>
            </a: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()))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8: </a:t>
            </a:r>
            <a:r>
              <a:rPr lang="en-US" altLang="en-US" sz="1100" dirty="0" err="1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CleanupAndSummarize</a:t>
            </a: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()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100" dirty="0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9: return </a:t>
            </a:r>
            <a:r>
              <a:rPr lang="en-US" altLang="en-US" sz="1100" dirty="0" err="1">
                <a:solidFill>
                  <a:schemeClr val="bg1"/>
                </a:solidFill>
                <a:latin typeface="Mongolian Baiti" panose="03000500000000000000" pitchFamily="66" charset="0"/>
                <a:cs typeface="Mongolian Baiti" panose="03000500000000000000" pitchFamily="66" charset="0"/>
              </a:rPr>
              <a:t>output_video_path</a:t>
            </a:r>
            <a:endParaRPr lang="en-US" altLang="en-US" sz="1100" dirty="0">
              <a:solidFill>
                <a:schemeClr val="bg1"/>
              </a:solidFill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cxnSp>
        <p:nvCxnSpPr>
          <p:cNvPr id="5" name="Google Shape;2107;p63">
            <a:extLst>
              <a:ext uri="{FF2B5EF4-FFF2-40B4-BE49-F238E27FC236}">
                <a16:creationId xmlns:a16="http://schemas.microsoft.com/office/drawing/2014/main" id="{38DC7DB3-09DB-AFB1-21AD-534013D3A500}"/>
              </a:ext>
            </a:extLst>
          </p:cNvPr>
          <p:cNvCxnSpPr>
            <a:cxnSpLocks/>
          </p:cNvCxnSpPr>
          <p:nvPr/>
        </p:nvCxnSpPr>
        <p:spPr>
          <a:xfrm>
            <a:off x="5753054" y="1581764"/>
            <a:ext cx="151921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6">
          <a:extLst>
            <a:ext uri="{FF2B5EF4-FFF2-40B4-BE49-F238E27FC236}">
              <a16:creationId xmlns:a16="http://schemas.microsoft.com/office/drawing/2014/main" id="{32B8020E-D400-E318-FE98-167C0CC6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63">
            <a:extLst>
              <a:ext uri="{FF2B5EF4-FFF2-40B4-BE49-F238E27FC236}">
                <a16:creationId xmlns:a16="http://schemas.microsoft.com/office/drawing/2014/main" id="{98BF0B80-4060-0C0E-B6FF-9E7F9771A9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043600" cy="5757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Posture Module</a:t>
            </a:r>
            <a:endParaRPr lang="en-IN" sz="3200" dirty="0"/>
          </a:p>
        </p:txBody>
      </p:sp>
      <p:cxnSp>
        <p:nvCxnSpPr>
          <p:cNvPr id="2106" name="Google Shape;2106;p63">
            <a:extLst>
              <a:ext uri="{FF2B5EF4-FFF2-40B4-BE49-F238E27FC236}">
                <a16:creationId xmlns:a16="http://schemas.microsoft.com/office/drawing/2014/main" id="{88F7CD5F-2262-D60D-1294-82F40FAB4C48}"/>
              </a:ext>
            </a:extLst>
          </p:cNvPr>
          <p:cNvCxnSpPr>
            <a:cxnSpLocks/>
          </p:cNvCxnSpPr>
          <p:nvPr/>
        </p:nvCxnSpPr>
        <p:spPr>
          <a:xfrm>
            <a:off x="875947" y="455509"/>
            <a:ext cx="3545800" cy="3100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108" name="Google Shape;2108;p63">
            <a:extLst>
              <a:ext uri="{FF2B5EF4-FFF2-40B4-BE49-F238E27FC236}">
                <a16:creationId xmlns:a16="http://schemas.microsoft.com/office/drawing/2014/main" id="{C0D242AE-3290-3BC6-2D80-015480490BF3}"/>
              </a:ext>
            </a:extLst>
          </p:cNvPr>
          <p:cNvCxnSpPr/>
          <p:nvPr/>
        </p:nvCxnSpPr>
        <p:spPr>
          <a:xfrm>
            <a:off x="5057594" y="1580534"/>
            <a:ext cx="0" cy="2964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10A41B82-AB3D-8D34-422E-F5A05E590D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0" y="1195924"/>
            <a:ext cx="2100913" cy="605400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Working Steps :</a:t>
            </a:r>
            <a:endParaRPr lang="en-IN" b="1" dirty="0">
              <a:solidFill>
                <a:srgbClr val="FFC000"/>
              </a:solidFill>
            </a:endParaRP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F9F0DF6D-A91B-9A29-48E3-ACECBFDF4644}"/>
              </a:ext>
            </a:extLst>
          </p:cNvPr>
          <p:cNvSpPr txBox="1">
            <a:spLocks/>
          </p:cNvSpPr>
          <p:nvPr/>
        </p:nvSpPr>
        <p:spPr>
          <a:xfrm>
            <a:off x="5611381" y="1195924"/>
            <a:ext cx="1553562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b="1" dirty="0">
                <a:solidFill>
                  <a:srgbClr val="FFC000"/>
                </a:solidFill>
              </a:rPr>
              <a:t>Algorithm :</a:t>
            </a:r>
            <a:endParaRPr lang="en-IN" b="1" dirty="0">
              <a:solidFill>
                <a:srgbClr val="FFC000"/>
              </a:solidFill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484A5640-D3F4-604B-9EEC-2977EC6FF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6555" y="1716853"/>
            <a:ext cx="348587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ExtraBold"/>
              <a:buNone/>
              <a:defRPr sz="14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AdvancedEmotionAndPostureAnalysis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(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video_path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1: Initialize(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video_path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2: for each frame in video: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3:  pose, angles ← 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DetectPoseAndAngles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(frame)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4:  score ← 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OptimizePosture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(angles) if 		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OptimStep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(frame)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5:  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em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 ← 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PredictEmotion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(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DetectAndCropFace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(frame))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6:  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final_emotion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 ← 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SmoothAndFuse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(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em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, score)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7:  Log(pose, angles, score, 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final_emotion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8:  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AnnotateAndWrite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(frame, 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final_emotion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9: Finalize()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10: return 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output_path</a:t>
            </a:r>
            <a:endParaRPr lang="en-US" altLang="en-US" sz="1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1097F6-C2BD-D20E-FE61-9654004E9106}"/>
              </a:ext>
            </a:extLst>
          </p:cNvPr>
          <p:cNvSpPr>
            <a:spLocks noGrp="1" noChangeArrowheads="1"/>
          </p:cNvSpPr>
          <p:nvPr>
            <p:ph type="title" idx="2"/>
          </p:nvPr>
        </p:nvSpPr>
        <p:spPr bwMode="auto">
          <a:xfrm>
            <a:off x="141288" y="1670687"/>
            <a:ext cx="5257468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Landmark Detection: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Detect key body points (shoulders, elbows, hips) from each video frame.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Angle Calculation: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Calculate joint angles using the detected landmarks.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Metaheuristic Scoring: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 advanced optimization algorithms to score the posture for emotion-related patterns.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Emotion Mapping: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Assign an emotion based on the posture score.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Output to IoT System: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Provide postural emotion results for real-time use in smart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Google Shape;2106;p63">
            <a:extLst>
              <a:ext uri="{FF2B5EF4-FFF2-40B4-BE49-F238E27FC236}">
                <a16:creationId xmlns:a16="http://schemas.microsoft.com/office/drawing/2014/main" id="{0EEFDF96-F457-C64E-9C49-3791588A4329}"/>
              </a:ext>
            </a:extLst>
          </p:cNvPr>
          <p:cNvCxnSpPr>
            <a:cxnSpLocks/>
          </p:cNvCxnSpPr>
          <p:nvPr/>
        </p:nvCxnSpPr>
        <p:spPr>
          <a:xfrm>
            <a:off x="141288" y="1614878"/>
            <a:ext cx="2056706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7" name="Google Shape;2106;p63">
            <a:extLst>
              <a:ext uri="{FF2B5EF4-FFF2-40B4-BE49-F238E27FC236}">
                <a16:creationId xmlns:a16="http://schemas.microsoft.com/office/drawing/2014/main" id="{7131DD09-F917-859F-3976-CBAB447FA474}"/>
              </a:ext>
            </a:extLst>
          </p:cNvPr>
          <p:cNvCxnSpPr>
            <a:cxnSpLocks/>
          </p:cNvCxnSpPr>
          <p:nvPr/>
        </p:nvCxnSpPr>
        <p:spPr>
          <a:xfrm>
            <a:off x="5667983" y="1580534"/>
            <a:ext cx="1720198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583370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6">
          <a:extLst>
            <a:ext uri="{FF2B5EF4-FFF2-40B4-BE49-F238E27FC236}">
              <a16:creationId xmlns:a16="http://schemas.microsoft.com/office/drawing/2014/main" id="{9A508FF3-5E6D-BDF2-8EF1-FB713FF3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63">
            <a:extLst>
              <a:ext uri="{FF2B5EF4-FFF2-40B4-BE49-F238E27FC236}">
                <a16:creationId xmlns:a16="http://schemas.microsoft.com/office/drawing/2014/main" id="{0200DE8F-F34A-AD38-8340-BBBD5E02A9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043600" cy="5757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Eye Module</a:t>
            </a:r>
            <a:endParaRPr lang="en-IN" sz="3200" dirty="0"/>
          </a:p>
        </p:txBody>
      </p:sp>
      <p:cxnSp>
        <p:nvCxnSpPr>
          <p:cNvPr id="2106" name="Google Shape;2106;p63">
            <a:extLst>
              <a:ext uri="{FF2B5EF4-FFF2-40B4-BE49-F238E27FC236}">
                <a16:creationId xmlns:a16="http://schemas.microsoft.com/office/drawing/2014/main" id="{98C053F3-AFF6-BD31-5D61-5408A6C4FB07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107" name="Google Shape;2107;p63">
            <a:extLst>
              <a:ext uri="{FF2B5EF4-FFF2-40B4-BE49-F238E27FC236}">
                <a16:creationId xmlns:a16="http://schemas.microsoft.com/office/drawing/2014/main" id="{801B73FD-C38B-ADBF-FFB3-E4ED54813693}"/>
              </a:ext>
            </a:extLst>
          </p:cNvPr>
          <p:cNvCxnSpPr>
            <a:cxnSpLocks/>
          </p:cNvCxnSpPr>
          <p:nvPr/>
        </p:nvCxnSpPr>
        <p:spPr>
          <a:xfrm>
            <a:off x="5504062" y="1657703"/>
            <a:ext cx="1873501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108" name="Google Shape;2108;p63">
            <a:extLst>
              <a:ext uri="{FF2B5EF4-FFF2-40B4-BE49-F238E27FC236}">
                <a16:creationId xmlns:a16="http://schemas.microsoft.com/office/drawing/2014/main" id="{8CACE439-5890-EBA7-58F4-1E713E9DE085}"/>
              </a:ext>
            </a:extLst>
          </p:cNvPr>
          <p:cNvCxnSpPr/>
          <p:nvPr/>
        </p:nvCxnSpPr>
        <p:spPr>
          <a:xfrm>
            <a:off x="4930307" y="1694324"/>
            <a:ext cx="0" cy="2964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558A7327-C8D4-96BF-A019-6BEC8B181F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0" y="1195924"/>
            <a:ext cx="2100913" cy="605400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Working Steps :</a:t>
            </a:r>
            <a:endParaRPr lang="en-IN" b="1" dirty="0">
              <a:solidFill>
                <a:srgbClr val="FFC000"/>
              </a:solidFill>
            </a:endParaRP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F24EA602-1935-4CCC-671C-1426F4490A37}"/>
              </a:ext>
            </a:extLst>
          </p:cNvPr>
          <p:cNvSpPr txBox="1">
            <a:spLocks/>
          </p:cNvSpPr>
          <p:nvPr/>
        </p:nvSpPr>
        <p:spPr>
          <a:xfrm>
            <a:off x="5611381" y="1195924"/>
            <a:ext cx="1553562" cy="6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None/>
              <a:defRPr sz="16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b="1" dirty="0">
                <a:solidFill>
                  <a:srgbClr val="FFC000"/>
                </a:solidFill>
              </a:rPr>
              <a:t>Algorithm </a:t>
            </a:r>
            <a:endParaRPr lang="en-IN" b="1" dirty="0">
              <a:solidFill>
                <a:srgbClr val="FFC000"/>
              </a:solidFill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E2D81942-539E-94D4-54FE-7FDFA45CC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236" y="1694324"/>
            <a:ext cx="3507413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ExtraBold"/>
              <a:buNone/>
              <a:defRPr sz="14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VideoEyeEmotionAnalysis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(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video_path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1: 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InitializeModelsAndIO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(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video_path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2: for each frame in video: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3:  for each face in 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DetectFaces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(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ConvertToGray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(frame)):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4:    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em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 ← 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ClassifyEyeEmotion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(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PredictLandmarks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(face), frame)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5:    Update(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emotion_counts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, 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em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)6:  Annotate(frame, 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em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7:  Write(frame)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8: 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ReleaseResources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()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9: 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PlotEmotionStats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(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emotion_counts</a:t>
            </a: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pPr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</a:rPr>
              <a:t>10: return </a:t>
            </a:r>
            <a:r>
              <a:rPr lang="en-US" altLang="en-US" sz="1000" dirty="0" err="1">
                <a:solidFill>
                  <a:schemeClr val="bg1"/>
                </a:solidFill>
                <a:latin typeface="Arial" panose="020B0604020202020204" pitchFamily="34" charset="0"/>
              </a:rPr>
              <a:t>output_path</a:t>
            </a:r>
            <a:endParaRPr lang="en-US" altLang="en-US" sz="1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0C0962-6BB8-4CB3-E81D-F1E8EB35E06C}"/>
              </a:ext>
            </a:extLst>
          </p:cNvPr>
          <p:cNvSpPr>
            <a:spLocks noGrp="1" noChangeArrowheads="1"/>
          </p:cNvSpPr>
          <p:nvPr>
            <p:ph type="title" idx="2"/>
          </p:nvPr>
        </p:nvSpPr>
        <p:spPr bwMode="auto">
          <a:xfrm>
            <a:off x="145646" y="1801324"/>
            <a:ext cx="4395136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Detect Facial &amp; Iris Landmarks: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Find facial and iris points in each video frame.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Extract Eye Metrics: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Calculate gaze direction, pupil size, and fixation stability.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Analyze for Cognitive States: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Examine these metrics for signs of alertness or anxiety.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Classify State: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Assign a cognitive or emotional state based on the analysis.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05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Output Results: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Report recognized states in real time with just a standard camera.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" name="Google Shape;2107;p63">
            <a:extLst>
              <a:ext uri="{FF2B5EF4-FFF2-40B4-BE49-F238E27FC236}">
                <a16:creationId xmlns:a16="http://schemas.microsoft.com/office/drawing/2014/main" id="{C7A4771F-4ED6-10D5-6E1C-EDFA31020DE8}"/>
              </a:ext>
            </a:extLst>
          </p:cNvPr>
          <p:cNvCxnSpPr>
            <a:cxnSpLocks/>
          </p:cNvCxnSpPr>
          <p:nvPr/>
        </p:nvCxnSpPr>
        <p:spPr>
          <a:xfrm>
            <a:off x="238632" y="1620155"/>
            <a:ext cx="1873501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948266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8"/>
          <p:cNvSpPr txBox="1">
            <a:spLocks noGrp="1"/>
          </p:cNvSpPr>
          <p:nvPr>
            <p:ph type="title"/>
          </p:nvPr>
        </p:nvSpPr>
        <p:spPr>
          <a:xfrm>
            <a:off x="5337175" y="2236191"/>
            <a:ext cx="3459769" cy="12967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06</a:t>
            </a:r>
            <a:br>
              <a:rPr lang="en" sz="4400" dirty="0"/>
            </a:br>
            <a:r>
              <a:rPr lang="en" sz="4000" dirty="0"/>
              <a:t>Result &amp; Comparison</a:t>
            </a:r>
            <a:endParaRPr sz="4000" dirty="0"/>
          </a:p>
        </p:txBody>
      </p:sp>
      <p:sp>
        <p:nvSpPr>
          <p:cNvPr id="266" name="Google Shape;266;p48"/>
          <p:cNvSpPr txBox="1">
            <a:spLocks noGrp="1"/>
          </p:cNvSpPr>
          <p:nvPr>
            <p:ph type="body" idx="1"/>
          </p:nvPr>
        </p:nvSpPr>
        <p:spPr>
          <a:xfrm>
            <a:off x="5337175" y="2670075"/>
            <a:ext cx="2837400" cy="12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 </a:t>
            </a:r>
            <a:endParaRPr dirty="0"/>
          </a:p>
        </p:txBody>
      </p:sp>
      <p:cxnSp>
        <p:nvCxnSpPr>
          <p:cNvPr id="267" name="Google Shape;267;p48"/>
          <p:cNvCxnSpPr/>
          <p:nvPr/>
        </p:nvCxnSpPr>
        <p:spPr>
          <a:xfrm>
            <a:off x="5225150" y="1540302"/>
            <a:ext cx="0" cy="2189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268" name="Google Shape;268;p48"/>
          <p:cNvPicPr preferRelativeResize="0"/>
          <p:nvPr/>
        </p:nvPicPr>
        <p:blipFill>
          <a:blip r:embed="rId3"/>
          <a:srcRect l="8030" r="8030"/>
          <a:stretch/>
        </p:blipFill>
        <p:spPr>
          <a:xfrm>
            <a:off x="0" y="0"/>
            <a:ext cx="4714800" cy="5143500"/>
          </a:xfrm>
          <a:prstGeom prst="flowChartDelay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0"/>
          <p:cNvSpPr txBox="1">
            <a:spLocks noGrp="1"/>
          </p:cNvSpPr>
          <p:nvPr>
            <p:ph type="title"/>
          </p:nvPr>
        </p:nvSpPr>
        <p:spPr>
          <a:xfrm>
            <a:off x="248348" y="448843"/>
            <a:ext cx="5497689" cy="5445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Emotion Distribution Result</a:t>
            </a:r>
            <a:endParaRPr sz="2800" dirty="0"/>
          </a:p>
        </p:txBody>
      </p:sp>
      <p:cxnSp>
        <p:nvCxnSpPr>
          <p:cNvPr id="281" name="Google Shape;281;p50"/>
          <p:cNvCxnSpPr/>
          <p:nvPr/>
        </p:nvCxnSpPr>
        <p:spPr>
          <a:xfrm>
            <a:off x="3150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D798013-0029-8E2E-6866-5C64D35D87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3876423"/>
              </p:ext>
            </p:extLst>
          </p:nvPr>
        </p:nvGraphicFramePr>
        <p:xfrm>
          <a:off x="67734" y="1559191"/>
          <a:ext cx="3822508" cy="2770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AF2EFB26-152D-FEC9-2E9E-BD5F3F7A12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73576375"/>
              </p:ext>
            </p:extLst>
          </p:nvPr>
        </p:nvGraphicFramePr>
        <p:xfrm>
          <a:off x="4404323" y="1440330"/>
          <a:ext cx="4487441" cy="29345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57"/>
          <p:cNvSpPr txBox="1">
            <a:spLocks noGrp="1"/>
          </p:cNvSpPr>
          <p:nvPr>
            <p:ph type="title"/>
          </p:nvPr>
        </p:nvSpPr>
        <p:spPr>
          <a:xfrm>
            <a:off x="599833" y="-71401"/>
            <a:ext cx="49647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SOMETIMES, COMPARISONS ARE GOOD</a:t>
            </a:r>
            <a:endParaRPr dirty="0"/>
          </a:p>
        </p:txBody>
      </p:sp>
      <p:cxnSp>
        <p:nvCxnSpPr>
          <p:cNvPr id="1998" name="Google Shape;1998;p57"/>
          <p:cNvCxnSpPr/>
          <p:nvPr/>
        </p:nvCxnSpPr>
        <p:spPr>
          <a:xfrm>
            <a:off x="698822" y="399299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D837082-B96E-876A-CF21-723F597F3E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3729793"/>
              </p:ext>
            </p:extLst>
          </p:nvPr>
        </p:nvGraphicFramePr>
        <p:xfrm>
          <a:off x="193183" y="1036559"/>
          <a:ext cx="8839199" cy="3829043"/>
        </p:xfrm>
        <a:graphic>
          <a:graphicData uri="http://schemas.openxmlformats.org/drawingml/2006/table">
            <a:tbl>
              <a:tblPr firstRow="1" bandRow="1">
                <a:tableStyleId>{C55DC599-EA6B-4487-8F88-C076E7C1E7B3}</a:tableStyleId>
              </a:tblPr>
              <a:tblGrid>
                <a:gridCol w="1104899">
                  <a:extLst>
                    <a:ext uri="{9D8B030D-6E8A-4147-A177-3AD203B41FA5}">
                      <a16:colId xmlns:a16="http://schemas.microsoft.com/office/drawing/2014/main" val="305936524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568330218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3538737166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76640678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19259872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916431788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30122884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754844178"/>
                    </a:ext>
                  </a:extLst>
                </a:gridCol>
              </a:tblGrid>
              <a:tr h="537203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accent1"/>
                          </a:solidFill>
                          <a:latin typeface="Montserrat ExtraBold" panose="00000900000000000000" pitchFamily="2" charset="0"/>
                        </a:rPr>
                        <a:t>Author</a:t>
                      </a:r>
                    </a:p>
                  </a:txBody>
                  <a:tcPr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accent1"/>
                          </a:solidFill>
                          <a:latin typeface="Montserrat ExtraBold" panose="00000900000000000000" pitchFamily="2" charset="0"/>
                        </a:rPr>
                        <a:t>Model</a:t>
                      </a:r>
                    </a:p>
                  </a:txBody>
                  <a:tcPr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accent1"/>
                          </a:solidFill>
                          <a:latin typeface="Montserrat ExtraBold" panose="00000900000000000000" pitchFamily="2" charset="0"/>
                        </a:rPr>
                        <a:t>Accuracy (%)</a:t>
                      </a:r>
                    </a:p>
                  </a:txBody>
                  <a:tcPr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accent1"/>
                          </a:solidFill>
                          <a:latin typeface="Montserrat ExtraBold" panose="00000900000000000000" pitchFamily="2" charset="0"/>
                        </a:rPr>
                        <a:t>F1-Score (%)</a:t>
                      </a:r>
                    </a:p>
                  </a:txBody>
                  <a:tcPr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accent1"/>
                          </a:solidFill>
                          <a:latin typeface="Montserrat ExtraBold" panose="00000900000000000000" pitchFamily="2" charset="0"/>
                        </a:rPr>
                        <a:t>Latency (</a:t>
                      </a:r>
                      <a:r>
                        <a:rPr lang="en-IN" sz="1400" b="1" dirty="0" err="1">
                          <a:solidFill>
                            <a:schemeClr val="accent1"/>
                          </a:solidFill>
                          <a:latin typeface="Montserrat ExtraBold" panose="00000900000000000000" pitchFamily="2" charset="0"/>
                        </a:rPr>
                        <a:t>ms</a:t>
                      </a:r>
                      <a:r>
                        <a:rPr lang="en-IN" sz="1400" b="1" dirty="0">
                          <a:solidFill>
                            <a:schemeClr val="accent1"/>
                          </a:solidFill>
                          <a:latin typeface="Montserrat ExtraBold" panose="00000900000000000000" pitchFamily="2" charset="0"/>
                        </a:rPr>
                        <a:t>)</a:t>
                      </a:r>
                    </a:p>
                  </a:txBody>
                  <a:tcPr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accent1"/>
                          </a:solidFill>
                          <a:latin typeface="Montserrat ExtraBold" panose="00000900000000000000" pitchFamily="2" charset="0"/>
                        </a:rPr>
                        <a:t>Params (M)</a:t>
                      </a:r>
                    </a:p>
                  </a:txBody>
                  <a:tcPr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accent1"/>
                          </a:solidFill>
                          <a:latin typeface="Montserrat ExtraBold" panose="00000900000000000000" pitchFamily="2" charset="0"/>
                        </a:rPr>
                        <a:t>Deployment</a:t>
                      </a:r>
                    </a:p>
                  </a:txBody>
                  <a:tcPr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accent1"/>
                          </a:solidFill>
                          <a:latin typeface="Montserrat ExtraBold" panose="00000900000000000000" pitchFamily="2" charset="0"/>
                        </a:rPr>
                        <a:t>Modality</a:t>
                      </a:r>
                    </a:p>
                  </a:txBody>
                  <a:tcPr anchor="ctr">
                    <a:solidFill>
                      <a:schemeClr val="tx1">
                        <a:alpha val="3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799982"/>
                  </a:ext>
                </a:extLst>
              </a:tr>
              <a:tr h="451454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bg1"/>
                          </a:solidFill>
                          <a:latin typeface="Montserrat "/>
                        </a:rPr>
                        <a:t>Wu et al. [11] [2025]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MERC-PLTAF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90.0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88.5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solidFill>
                            <a:schemeClr val="bg1"/>
                          </a:solidFill>
                          <a:latin typeface="Montserrat "/>
                        </a:rPr>
                        <a:t>150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solidFill>
                            <a:schemeClr val="bg1"/>
                          </a:solidFill>
                          <a:latin typeface="Montserrat "/>
                        </a:rPr>
                        <a:t>67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No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solidFill>
                            <a:schemeClr val="bg1"/>
                          </a:solidFill>
                          <a:latin typeface="Montserrat "/>
                        </a:rPr>
                        <a:t>Audio-Text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503762"/>
                  </a:ext>
                </a:extLst>
              </a:tr>
              <a:tr h="451454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Khan et al. [5] [2025]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>
                          <a:solidFill>
                            <a:schemeClr val="bg1"/>
                          </a:solidFill>
                          <a:latin typeface="Montserrat "/>
                        </a:rPr>
                        <a:t>MemoCMT</a:t>
                      </a:r>
                      <a:endParaRPr lang="en-IN" sz="1200" dirty="0">
                        <a:solidFill>
                          <a:schemeClr val="bg1"/>
                        </a:solidFill>
                        <a:latin typeface="Montserrat 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91.3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90.2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solidFill>
                            <a:schemeClr val="bg1"/>
                          </a:solidFill>
                          <a:latin typeface="Montserrat "/>
                        </a:rPr>
                        <a:t>140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solidFill>
                            <a:schemeClr val="bg1"/>
                          </a:solidFill>
                          <a:latin typeface="Montserrat "/>
                        </a:rPr>
                        <a:t>92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No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Vision-Audio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389523"/>
                  </a:ext>
                </a:extLst>
              </a:tr>
              <a:tr h="763393">
                <a:tc>
                  <a:txBody>
                    <a:bodyPr/>
                    <a:lstStyle/>
                    <a:p>
                      <a:pPr algn="ctr"/>
                      <a:r>
                        <a:rPr lang="nb-NO" sz="1200" dirty="0">
                          <a:solidFill>
                            <a:schemeClr val="bg1"/>
                          </a:solidFill>
                          <a:latin typeface="Montserrat "/>
                        </a:rPr>
                        <a:t>Cheng et al. [3] [2024]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Conv-Attention-Emotion-LLAMA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85.3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85.8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200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solidFill>
                            <a:schemeClr val="bg1"/>
                          </a:solidFill>
                          <a:latin typeface="Montserrat "/>
                        </a:rPr>
                        <a:t>160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solidFill>
                            <a:schemeClr val="bg1"/>
                          </a:solidFill>
                          <a:latin typeface="Montserrat "/>
                        </a:rPr>
                        <a:t>No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Vision-Audio-Text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281300"/>
                  </a:ext>
                </a:extLst>
              </a:tr>
              <a:tr h="424107">
                <a:tc>
                  <a:txBody>
                    <a:bodyPr/>
                    <a:lstStyle/>
                    <a:p>
                      <a:pPr algn="ctr"/>
                      <a:r>
                        <a:rPr lang="da-DK" sz="1200" dirty="0">
                          <a:solidFill>
                            <a:schemeClr val="bg1"/>
                          </a:solidFill>
                          <a:latin typeface="Montserrat "/>
                        </a:rPr>
                        <a:t>Hu et al. [4] [2025]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>
                          <a:solidFill>
                            <a:schemeClr val="bg1"/>
                          </a:solidFill>
                          <a:latin typeface="Montserrat "/>
                        </a:rPr>
                        <a:t>OpenFace</a:t>
                      </a:r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 3.0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89.2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87.4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130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52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Yes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Face-Gaze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854997"/>
                  </a:ext>
                </a:extLst>
              </a:tr>
              <a:tr h="451454">
                <a:tc>
                  <a:txBody>
                    <a:bodyPr/>
                    <a:lstStyle/>
                    <a:p>
                      <a:pPr algn="ctr"/>
                      <a:r>
                        <a:rPr lang="da-DK" sz="1200">
                          <a:solidFill>
                            <a:schemeClr val="bg1"/>
                          </a:solidFill>
                          <a:latin typeface="Montserrat "/>
                        </a:rPr>
                        <a:t>Alam et al. [1] [2025]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solidFill>
                            <a:schemeClr val="bg1"/>
                          </a:solidFill>
                          <a:latin typeface="Montserrat "/>
                        </a:rPr>
                        <a:t>TMNet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84.7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84.0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170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solidFill>
                            <a:schemeClr val="bg1"/>
                          </a:solidFill>
                          <a:latin typeface="Montserrat "/>
                        </a:rPr>
                        <a:t>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solidFill>
                            <a:schemeClr val="bg1"/>
                          </a:solidFill>
                          <a:latin typeface="Montserrat "/>
                        </a:rPr>
                        <a:t>No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EEG-Audio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364690"/>
                  </a:ext>
                </a:extLst>
              </a:tr>
              <a:tr h="593750"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solidFill>
                            <a:schemeClr val="bg1"/>
                          </a:solidFill>
                          <a:latin typeface="Montserrat "/>
                        </a:rPr>
                        <a:t>Proposed Method</a:t>
                      </a:r>
                      <a:endParaRPr lang="en-IN" sz="1200">
                        <a:solidFill>
                          <a:schemeClr val="bg1"/>
                        </a:solidFill>
                        <a:latin typeface="Montserrat 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latin typeface="Montserrat "/>
                        </a:rPr>
                        <a:t>–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Montserrat "/>
                        </a:rPr>
                        <a:t>92.5</a:t>
                      </a:r>
                      <a:endParaRPr lang="en-IN" sz="1200" dirty="0">
                        <a:solidFill>
                          <a:schemeClr val="bg1"/>
                        </a:solidFill>
                        <a:latin typeface="Montserrat 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Montserrat "/>
                        </a:rPr>
                        <a:t>91.7</a:t>
                      </a:r>
                      <a:endParaRPr lang="en-IN" sz="1200" dirty="0">
                        <a:solidFill>
                          <a:schemeClr val="bg1"/>
                        </a:solidFill>
                        <a:latin typeface="Montserrat 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Montserrat "/>
                        </a:rPr>
                        <a:t>120</a:t>
                      </a:r>
                      <a:endParaRPr lang="en-IN" sz="1200" dirty="0">
                        <a:solidFill>
                          <a:schemeClr val="bg1"/>
                        </a:solidFill>
                        <a:latin typeface="Montserrat 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Montserrat "/>
                        </a:rPr>
                        <a:t>48</a:t>
                      </a:r>
                      <a:endParaRPr lang="en-IN" sz="1200" dirty="0">
                        <a:solidFill>
                          <a:schemeClr val="bg1"/>
                        </a:solidFill>
                        <a:latin typeface="Montserrat 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Montserrat "/>
                        </a:rPr>
                        <a:t>Yes</a:t>
                      </a:r>
                      <a:endParaRPr lang="en-IN" sz="1200" dirty="0">
                        <a:solidFill>
                          <a:schemeClr val="bg1"/>
                        </a:solidFill>
                        <a:latin typeface="Montserrat 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bg1"/>
                          </a:solidFill>
                          <a:latin typeface="Montserrat "/>
                        </a:rPr>
                        <a:t>Face-Posture-Gaze</a:t>
                      </a:r>
                      <a:endParaRPr lang="en-IN" sz="1200" dirty="0">
                        <a:solidFill>
                          <a:schemeClr val="bg1"/>
                        </a:solidFill>
                        <a:latin typeface="Montserrat 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41969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1DA06122-DA4F-F9B9-2968-CBA88167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0">
            <a:extLst>
              <a:ext uri="{FF2B5EF4-FFF2-40B4-BE49-F238E27FC236}">
                <a16:creationId xmlns:a16="http://schemas.microsoft.com/office/drawing/2014/main" id="{800AB790-0389-FFC3-C34D-61F06DABAC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3193" y="357577"/>
            <a:ext cx="5497689" cy="5445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Comparison Graph</a:t>
            </a:r>
            <a:endParaRPr sz="3600" dirty="0"/>
          </a:p>
        </p:txBody>
      </p:sp>
      <p:cxnSp>
        <p:nvCxnSpPr>
          <p:cNvPr id="281" name="Google Shape;281;p50">
            <a:extLst>
              <a:ext uri="{FF2B5EF4-FFF2-40B4-BE49-F238E27FC236}">
                <a16:creationId xmlns:a16="http://schemas.microsoft.com/office/drawing/2014/main" id="{3486956B-913C-99B2-4F20-2C9AFB1F26A6}"/>
              </a:ext>
            </a:extLst>
          </p:cNvPr>
          <p:cNvCxnSpPr/>
          <p:nvPr/>
        </p:nvCxnSpPr>
        <p:spPr>
          <a:xfrm>
            <a:off x="3150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7" name="Picture 6" descr="A graph with a green line&#10;&#10;AI-generated content may be incorrect.">
            <a:extLst>
              <a:ext uri="{FF2B5EF4-FFF2-40B4-BE49-F238E27FC236}">
                <a16:creationId xmlns:a16="http://schemas.microsoft.com/office/drawing/2014/main" id="{83270BD8-1511-39D8-CAA9-F64E1647E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844" y="1726141"/>
            <a:ext cx="3872096" cy="27657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A21AD89A-8BC5-22BB-5CBE-9D522E7376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2447276"/>
              </p:ext>
            </p:extLst>
          </p:nvPr>
        </p:nvGraphicFramePr>
        <p:xfrm>
          <a:off x="315000" y="1726141"/>
          <a:ext cx="4257000" cy="27657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530478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65;p48">
            <a:extLst>
              <a:ext uri="{FF2B5EF4-FFF2-40B4-BE49-F238E27FC236}">
                <a16:creationId xmlns:a16="http://schemas.microsoft.com/office/drawing/2014/main" id="{A64F4947-A1A9-20AC-C98F-E7FB9255C37B}"/>
              </a:ext>
            </a:extLst>
          </p:cNvPr>
          <p:cNvSpPr txBox="1">
            <a:spLocks/>
          </p:cNvSpPr>
          <p:nvPr/>
        </p:nvSpPr>
        <p:spPr>
          <a:xfrm>
            <a:off x="4840463" y="2025259"/>
            <a:ext cx="4303536" cy="12967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76A5AF">
                <a:alpha val="88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ExtraBold"/>
              <a:buNone/>
              <a:defRPr sz="6000" b="1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"/>
              <a:buNone/>
              <a:defRPr sz="3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r>
              <a:rPr lang="en-IN" sz="4400" dirty="0">
                <a:solidFill>
                  <a:schemeClr val="accent1"/>
                </a:solidFill>
              </a:rPr>
              <a:t>07</a:t>
            </a:r>
            <a:br>
              <a:rPr lang="en-IN" sz="4400" dirty="0">
                <a:solidFill>
                  <a:schemeClr val="accent1"/>
                </a:solidFill>
              </a:rPr>
            </a:br>
            <a:r>
              <a:rPr lang="en-IN" sz="4000" dirty="0">
                <a:solidFill>
                  <a:schemeClr val="accent1"/>
                </a:solidFill>
              </a:rPr>
              <a:t>Limitation &amp; Future Scope</a:t>
            </a:r>
          </a:p>
        </p:txBody>
      </p:sp>
      <p:cxnSp>
        <p:nvCxnSpPr>
          <p:cNvPr id="7" name="Google Shape;2084;p61">
            <a:extLst>
              <a:ext uri="{FF2B5EF4-FFF2-40B4-BE49-F238E27FC236}">
                <a16:creationId xmlns:a16="http://schemas.microsoft.com/office/drawing/2014/main" id="{EC612A25-C1C2-9A59-031D-41F07DAC2EF3}"/>
              </a:ext>
            </a:extLst>
          </p:cNvPr>
          <p:cNvCxnSpPr>
            <a:cxnSpLocks/>
          </p:cNvCxnSpPr>
          <p:nvPr/>
        </p:nvCxnSpPr>
        <p:spPr>
          <a:xfrm>
            <a:off x="4572000" y="1307452"/>
            <a:ext cx="0" cy="201455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64"/>
          <p:cNvSpPr txBox="1">
            <a:spLocks noGrp="1"/>
          </p:cNvSpPr>
          <p:nvPr>
            <p:ph type="subTitle" idx="1"/>
          </p:nvPr>
        </p:nvSpPr>
        <p:spPr>
          <a:xfrm>
            <a:off x="3153612" y="1948042"/>
            <a:ext cx="5448519" cy="16619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current system does not incorporate audio or physiological inputs (e.g., heart rate).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Performance may need further optimization for challenging conditions like low light or severe facial occlusion.</a:t>
            </a:r>
            <a:br>
              <a:rPr lang="en-US" dirty="0"/>
            </a:br>
            <a:endParaRPr lang="en-US" dirty="0"/>
          </a:p>
        </p:txBody>
      </p:sp>
      <p:sp>
        <p:nvSpPr>
          <p:cNvPr id="2114" name="Google Shape;2114;p6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Limitation</a:t>
            </a:r>
            <a:endParaRPr sz="3600" dirty="0"/>
          </a:p>
        </p:txBody>
      </p:sp>
      <p:cxnSp>
        <p:nvCxnSpPr>
          <p:cNvPr id="2115" name="Google Shape;2115;p64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75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9">
          <a:extLst>
            <a:ext uri="{FF2B5EF4-FFF2-40B4-BE49-F238E27FC236}">
              <a16:creationId xmlns:a16="http://schemas.microsoft.com/office/drawing/2014/main" id="{39ACED56-7B12-9D23-AC39-D5EB0008E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1" name="Google Shape;2071;p61">
            <a:extLst>
              <a:ext uri="{FF2B5EF4-FFF2-40B4-BE49-F238E27FC236}">
                <a16:creationId xmlns:a16="http://schemas.microsoft.com/office/drawing/2014/main" id="{FB525252-1F57-532C-6973-A43DFE7646FA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072" name="Google Shape;2072;p61">
            <a:extLst>
              <a:ext uri="{FF2B5EF4-FFF2-40B4-BE49-F238E27FC236}">
                <a16:creationId xmlns:a16="http://schemas.microsoft.com/office/drawing/2014/main" id="{C2AB7643-0022-06A7-8298-8308C5D1D6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44807" y="1818541"/>
            <a:ext cx="3957325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Handle low-light/occlusion: </a:t>
            </a:r>
            <a:endParaRPr dirty="0"/>
          </a:p>
        </p:txBody>
      </p:sp>
      <p:sp>
        <p:nvSpPr>
          <p:cNvPr id="2073" name="Google Shape;2073;p61">
            <a:extLst>
              <a:ext uri="{FF2B5EF4-FFF2-40B4-BE49-F238E27FC236}">
                <a16:creationId xmlns:a16="http://schemas.microsoft.com/office/drawing/2014/main" id="{5B1A6E27-A6AA-7BC6-917B-BC07650FFE1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03272" y="2344519"/>
            <a:ext cx="2240394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000" dirty="0"/>
              <a:t>Enhance vision under poor or partial conditions.</a:t>
            </a:r>
            <a:endParaRPr sz="1000" dirty="0"/>
          </a:p>
        </p:txBody>
      </p:sp>
      <p:sp>
        <p:nvSpPr>
          <p:cNvPr id="2076" name="Google Shape;2076;p61">
            <a:extLst>
              <a:ext uri="{FF2B5EF4-FFF2-40B4-BE49-F238E27FC236}">
                <a16:creationId xmlns:a16="http://schemas.microsoft.com/office/drawing/2014/main" id="{4A24500D-0B84-6681-793D-16A33C064ED1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980713" y="1818541"/>
            <a:ext cx="2278522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Add audio &amp; EEG</a:t>
            </a:r>
            <a:endParaRPr dirty="0"/>
          </a:p>
        </p:txBody>
      </p:sp>
      <p:sp>
        <p:nvSpPr>
          <p:cNvPr id="2077" name="Google Shape;2077;p61">
            <a:extLst>
              <a:ext uri="{FF2B5EF4-FFF2-40B4-BE49-F238E27FC236}">
                <a16:creationId xmlns:a16="http://schemas.microsoft.com/office/drawing/2014/main" id="{FDC8BC21-5948-B0D2-5461-B55926AAFAFF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010312" y="2335961"/>
            <a:ext cx="2316657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000" dirty="0"/>
              <a:t>Future plans to expand to speech and physiological signals.</a:t>
            </a:r>
          </a:p>
        </p:txBody>
      </p:sp>
      <p:sp>
        <p:nvSpPr>
          <p:cNvPr id="2078" name="Google Shape;2078;p61">
            <a:extLst>
              <a:ext uri="{FF2B5EF4-FFF2-40B4-BE49-F238E27FC236}">
                <a16:creationId xmlns:a16="http://schemas.microsoft.com/office/drawing/2014/main" id="{3A98257C-9BA0-E9A3-885F-1FC77AD57E6E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5006050" y="3313746"/>
            <a:ext cx="3247545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Real-world deployment:</a:t>
            </a:r>
            <a:endParaRPr dirty="0"/>
          </a:p>
        </p:txBody>
      </p:sp>
      <p:sp>
        <p:nvSpPr>
          <p:cNvPr id="2079" name="Google Shape;2079;p61">
            <a:extLst>
              <a:ext uri="{FF2B5EF4-FFF2-40B4-BE49-F238E27FC236}">
                <a16:creationId xmlns:a16="http://schemas.microsoft.com/office/drawing/2014/main" id="{9B520B0D-832E-0B59-1C7C-FAF3214098C7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615656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000" dirty="0"/>
              <a:t>Test in homes, cars, and clinics.</a:t>
            </a:r>
          </a:p>
        </p:txBody>
      </p:sp>
      <p:sp>
        <p:nvSpPr>
          <p:cNvPr id="2082" name="Google Shape;2082;p61">
            <a:extLst>
              <a:ext uri="{FF2B5EF4-FFF2-40B4-BE49-F238E27FC236}">
                <a16:creationId xmlns:a16="http://schemas.microsoft.com/office/drawing/2014/main" id="{05AD7190-51B2-B542-48B6-41ADD2002E38}"/>
              </a:ext>
            </a:extLst>
          </p:cNvPr>
          <p:cNvSpPr txBox="1">
            <a:spLocks noGrp="1"/>
          </p:cNvSpPr>
          <p:nvPr>
            <p:ph type="title" idx="14"/>
          </p:nvPr>
        </p:nvSpPr>
        <p:spPr>
          <a:xfrm>
            <a:off x="618047" y="3325035"/>
            <a:ext cx="3715464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Use unsupervised learning:</a:t>
            </a:r>
            <a:endParaRPr dirty="0"/>
          </a:p>
        </p:txBody>
      </p:sp>
      <p:sp>
        <p:nvSpPr>
          <p:cNvPr id="2083" name="Google Shape;2083;p61">
            <a:extLst>
              <a:ext uri="{FF2B5EF4-FFF2-40B4-BE49-F238E27FC236}">
                <a16:creationId xmlns:a16="http://schemas.microsoft.com/office/drawing/2014/main" id="{DEF19140-F69A-41F1-66E1-CCB793272CA4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1296806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000" dirty="0"/>
              <a:t>Reduce the need for manual data labeling.</a:t>
            </a:r>
            <a:endParaRPr sz="1000" dirty="0"/>
          </a:p>
        </p:txBody>
      </p:sp>
      <p:cxnSp>
        <p:nvCxnSpPr>
          <p:cNvPr id="2084" name="Google Shape;2084;p61">
            <a:extLst>
              <a:ext uri="{FF2B5EF4-FFF2-40B4-BE49-F238E27FC236}">
                <a16:creationId xmlns:a16="http://schemas.microsoft.com/office/drawing/2014/main" id="{0AC9ADB8-50B3-46EB-AF6F-1549457EAB2C}"/>
              </a:ext>
            </a:extLst>
          </p:cNvPr>
          <p:cNvCxnSpPr/>
          <p:nvPr/>
        </p:nvCxnSpPr>
        <p:spPr>
          <a:xfrm>
            <a:off x="1218450" y="3138821"/>
            <a:ext cx="670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Google Shape;221;p45">
            <a:extLst>
              <a:ext uri="{FF2B5EF4-FFF2-40B4-BE49-F238E27FC236}">
                <a16:creationId xmlns:a16="http://schemas.microsoft.com/office/drawing/2014/main" id="{C2D619C3-F2B6-7156-53FE-8D2BD4547B0E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Future Scope</a:t>
            </a:r>
            <a:endParaRPr sz="3600" dirty="0"/>
          </a:p>
        </p:txBody>
      </p:sp>
      <p:cxnSp>
        <p:nvCxnSpPr>
          <p:cNvPr id="12" name="Google Shape;2084;p61">
            <a:extLst>
              <a:ext uri="{FF2B5EF4-FFF2-40B4-BE49-F238E27FC236}">
                <a16:creationId xmlns:a16="http://schemas.microsoft.com/office/drawing/2014/main" id="{44C35C70-2F4D-C503-D724-BAD80D322F3E}"/>
              </a:ext>
            </a:extLst>
          </p:cNvPr>
          <p:cNvCxnSpPr>
            <a:cxnSpLocks/>
          </p:cNvCxnSpPr>
          <p:nvPr/>
        </p:nvCxnSpPr>
        <p:spPr>
          <a:xfrm>
            <a:off x="4572000" y="2131542"/>
            <a:ext cx="0" cy="201455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034105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69"/>
          <p:cNvSpPr txBox="1">
            <a:spLocks noGrp="1"/>
          </p:cNvSpPr>
          <p:nvPr>
            <p:ph type="title"/>
          </p:nvPr>
        </p:nvSpPr>
        <p:spPr>
          <a:xfrm>
            <a:off x="392527" y="59967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Conclusion </a:t>
            </a:r>
            <a:endParaRPr sz="3600" dirty="0"/>
          </a:p>
        </p:txBody>
      </p:sp>
      <p:sp>
        <p:nvSpPr>
          <p:cNvPr id="2180" name="Google Shape;2180;p69"/>
          <p:cNvSpPr txBox="1">
            <a:spLocks noGrp="1"/>
          </p:cNvSpPr>
          <p:nvPr>
            <p:ph type="body" idx="1"/>
          </p:nvPr>
        </p:nvSpPr>
        <p:spPr>
          <a:xfrm>
            <a:off x="4683763" y="1070375"/>
            <a:ext cx="4398747" cy="39757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solidFill>
                  <a:schemeClr val="bg1"/>
                </a:solidFill>
                <a:latin typeface="Montserrat" panose="00000500000000000000" pitchFamily="2" charset="0"/>
              </a:rPr>
              <a:t>This work presents a confidence-aware multimodal emotion recognition system that fuses facial, postural, and gaze data. It achieves high accuracy (92.5%) and low latency (120 </a:t>
            </a:r>
            <a:r>
              <a:rPr lang="en-US" altLang="en-US" dirty="0" err="1">
                <a:solidFill>
                  <a:schemeClr val="bg1"/>
                </a:solidFill>
                <a:latin typeface="Montserrat" panose="00000500000000000000" pitchFamily="2" charset="0"/>
              </a:rPr>
              <a:t>ms</a:t>
            </a:r>
            <a:r>
              <a:rPr lang="en-US" altLang="en-US" dirty="0">
                <a:solidFill>
                  <a:schemeClr val="bg1"/>
                </a:solidFill>
                <a:latin typeface="Montserrat" panose="00000500000000000000" pitchFamily="2" charset="0"/>
              </a:rPr>
              <a:t>), outperforming state-of-the-art models. Temporal smoothing ensures stable predictions, and successful deployment on an ARM Cortex-A72 confirms its suitability for real-time, resource-limited IoT applications.</a:t>
            </a:r>
          </a:p>
          <a:p>
            <a:pPr marL="0" lvl="0" indent="0" algn="just">
              <a:buNone/>
            </a:pPr>
            <a:endParaRPr dirty="0"/>
          </a:p>
        </p:txBody>
      </p:sp>
      <p:cxnSp>
        <p:nvCxnSpPr>
          <p:cNvPr id="2181" name="Google Shape;2181;p69"/>
          <p:cNvCxnSpPr/>
          <p:nvPr/>
        </p:nvCxnSpPr>
        <p:spPr>
          <a:xfrm>
            <a:off x="549063" y="1260688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pic>
        <p:nvPicPr>
          <p:cNvPr id="2182" name="Google Shape;218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842" y="1634807"/>
            <a:ext cx="2539443" cy="74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3" name="Google Shape;2183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2707177" y="1634837"/>
            <a:ext cx="1976586" cy="74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4" name="Google Shape;2184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5956" y="2620891"/>
            <a:ext cx="2939569" cy="68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5" name="Google Shape;2185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5638" y="3541975"/>
            <a:ext cx="3800201" cy="87819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1AFAA49-5529-471D-A9BB-8B0A62C58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p70"/>
          <p:cNvSpPr txBox="1">
            <a:spLocks noGrp="1"/>
          </p:cNvSpPr>
          <p:nvPr>
            <p:ph type="title"/>
          </p:nvPr>
        </p:nvSpPr>
        <p:spPr>
          <a:xfrm>
            <a:off x="961078" y="433736"/>
            <a:ext cx="4629300" cy="5145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dirty="0"/>
              <a:t>Reference</a:t>
            </a:r>
            <a:endParaRPr sz="4000" dirty="0"/>
          </a:p>
        </p:txBody>
      </p:sp>
      <p:sp>
        <p:nvSpPr>
          <p:cNvPr id="2191" name="Google Shape;2191;p70"/>
          <p:cNvSpPr txBox="1">
            <a:spLocks noGrp="1"/>
          </p:cNvSpPr>
          <p:nvPr>
            <p:ph type="body" idx="1"/>
          </p:nvPr>
        </p:nvSpPr>
        <p:spPr>
          <a:xfrm>
            <a:off x="554678" y="1298030"/>
            <a:ext cx="5891278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Alam et al. (</a:t>
            </a:r>
            <a:r>
              <a:rPr lang="en-US" dirty="0" err="1">
                <a:solidFill>
                  <a:schemeClr val="bg1"/>
                </a:solidFill>
              </a:rPr>
              <a:t>TMNet</a:t>
            </a:r>
            <a:r>
              <a:rPr lang="en-US" dirty="0">
                <a:solidFill>
                  <a:schemeClr val="bg1"/>
                </a:solidFill>
              </a:rPr>
              <a:t>): Combines EEG and speech for emotion prediction.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Cheng et al. (Emotion-</a:t>
            </a:r>
            <a:r>
              <a:rPr lang="en-US" dirty="0" err="1">
                <a:solidFill>
                  <a:schemeClr val="bg1"/>
                </a:solidFill>
              </a:rPr>
              <a:t>LLaMA</a:t>
            </a:r>
            <a:r>
              <a:rPr lang="en-US" dirty="0">
                <a:solidFill>
                  <a:schemeClr val="bg1"/>
                </a:solidFill>
              </a:rPr>
              <a:t>): Uses multimodal fusion with audio-visual-text.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Xiang et al. (</a:t>
            </a:r>
            <a:r>
              <a:rPr lang="en-US" dirty="0" err="1">
                <a:solidFill>
                  <a:schemeClr val="bg1"/>
                </a:solidFill>
              </a:rPr>
              <a:t>MultiMAE</a:t>
            </a:r>
            <a:r>
              <a:rPr lang="en-US" dirty="0">
                <a:solidFill>
                  <a:schemeClr val="bg1"/>
                </a:solidFill>
              </a:rPr>
              <a:t>-DER): Applies masked autoencoders for dynamic emotion.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Hu et al. (</a:t>
            </a:r>
            <a:r>
              <a:rPr lang="en-US" dirty="0" err="1">
                <a:solidFill>
                  <a:schemeClr val="bg1"/>
                </a:solidFill>
              </a:rPr>
              <a:t>OpenFace</a:t>
            </a:r>
            <a:r>
              <a:rPr lang="en-US" dirty="0">
                <a:solidFill>
                  <a:schemeClr val="bg1"/>
                </a:solidFill>
              </a:rPr>
              <a:t> 3.0): Facial behavior toolkit including gaze tracking.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Kumar &amp; Li: Combines face and physiology with interpretability.</a:t>
            </a:r>
          </a:p>
        </p:txBody>
      </p:sp>
      <p:cxnSp>
        <p:nvCxnSpPr>
          <p:cNvPr id="2192" name="Google Shape;2192;p70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p67"/>
          <p:cNvSpPr txBox="1">
            <a:spLocks noGrp="1"/>
          </p:cNvSpPr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GOOD WAY TO END THE PRESENTATION</a:t>
            </a:r>
            <a:endParaRPr/>
          </a:p>
        </p:txBody>
      </p:sp>
      <p:sp>
        <p:nvSpPr>
          <p:cNvPr id="2153" name="Google Shape;2153;p67"/>
          <p:cNvSpPr txBox="1">
            <a:spLocks noGrp="1"/>
          </p:cNvSpPr>
          <p:nvPr>
            <p:ph type="subTitle" idx="1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Your patience and attention on it !</a:t>
            </a:r>
            <a:endParaRPr dirty="0"/>
          </a:p>
        </p:txBody>
      </p:sp>
      <p:cxnSp>
        <p:nvCxnSpPr>
          <p:cNvPr id="2154" name="Google Shape;2154;p67"/>
          <p:cNvCxnSpPr/>
          <p:nvPr/>
        </p:nvCxnSpPr>
        <p:spPr>
          <a:xfrm>
            <a:off x="3190500" y="3203297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Google Shape;1986;p56"/>
          <p:cNvSpPr txBox="1">
            <a:spLocks noGrp="1"/>
          </p:cNvSpPr>
          <p:nvPr>
            <p:ph type="title"/>
          </p:nvPr>
        </p:nvSpPr>
        <p:spPr>
          <a:xfrm>
            <a:off x="1920750" y="1634425"/>
            <a:ext cx="5302500" cy="11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800" dirty="0"/>
              <a:t>Thanks !</a:t>
            </a:r>
            <a:endParaRPr sz="8800" dirty="0"/>
          </a:p>
        </p:txBody>
      </p:sp>
      <p:sp>
        <p:nvSpPr>
          <p:cNvPr id="1987" name="Google Shape;1987;p56"/>
          <p:cNvSpPr txBox="1">
            <a:spLocks noGrp="1"/>
          </p:cNvSpPr>
          <p:nvPr>
            <p:ph type="body" idx="1"/>
          </p:nvPr>
        </p:nvSpPr>
        <p:spPr>
          <a:xfrm>
            <a:off x="2786550" y="2823539"/>
            <a:ext cx="3570900" cy="5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/>
              <a:t>Do you have any question ?</a:t>
            </a:r>
            <a:endParaRPr sz="1200" dirty="0"/>
          </a:p>
        </p:txBody>
      </p:sp>
      <p:cxnSp>
        <p:nvCxnSpPr>
          <p:cNvPr id="1988" name="Google Shape;1988;p56"/>
          <p:cNvCxnSpPr/>
          <p:nvPr/>
        </p:nvCxnSpPr>
        <p:spPr>
          <a:xfrm>
            <a:off x="3190500" y="2845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1546</Words>
  <Application>Microsoft Office PowerPoint</Application>
  <PresentationFormat>On-screen Show (16:9)</PresentationFormat>
  <Paragraphs>274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Montserrat</vt:lpstr>
      <vt:lpstr>Wingdings</vt:lpstr>
      <vt:lpstr>Montserrat ExtraBold</vt:lpstr>
      <vt:lpstr>Montserrat </vt:lpstr>
      <vt:lpstr>Montserrat SemiBold</vt:lpstr>
      <vt:lpstr>Montserrat ExtraLight</vt:lpstr>
      <vt:lpstr>Sora SemiBold</vt:lpstr>
      <vt:lpstr>Mongolian Baiti</vt:lpstr>
      <vt:lpstr>Arial</vt:lpstr>
      <vt:lpstr>Futuristic Background by Slidesgo</vt:lpstr>
      <vt:lpstr>Towards Real-Time Emotion Awareness in IoT</vt:lpstr>
      <vt:lpstr>Towards Emotion-Aware IoT:  Confidence-Aware Multimodal Emotion Recognition with Metaheuristic-Guided Visual Fusion for Real-Time Edge Deployment</vt:lpstr>
      <vt:lpstr>Contents</vt:lpstr>
      <vt:lpstr>Introduction</vt:lpstr>
      <vt:lpstr>01</vt:lpstr>
      <vt:lpstr>… AND THE SAME GOES FOR TABLES</vt:lpstr>
      <vt:lpstr>03 Problem Domain</vt:lpstr>
      <vt:lpstr>04 Solution Domain</vt:lpstr>
      <vt:lpstr>Face Module:</vt:lpstr>
      <vt:lpstr>Facial Module</vt:lpstr>
      <vt:lpstr>Posture Module</vt:lpstr>
      <vt:lpstr>Eye Module</vt:lpstr>
      <vt:lpstr>06 Result &amp; Comparison</vt:lpstr>
      <vt:lpstr>Emotion Distribution Result</vt:lpstr>
      <vt:lpstr>SOMETIMES, COMPARISONS ARE GOOD</vt:lpstr>
      <vt:lpstr>Comparison Graph</vt:lpstr>
      <vt:lpstr>PowerPoint Presentation</vt:lpstr>
      <vt:lpstr>Limitation</vt:lpstr>
      <vt:lpstr>Handle low-light/occlusion: </vt:lpstr>
      <vt:lpstr>Conclusion </vt:lpstr>
      <vt:lpstr>Reference</vt:lpstr>
      <vt:lpstr>A GOOD WAY TO END THE PRESENTATION</vt:lpstr>
      <vt:lpstr>Thanks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ACER</dc:creator>
  <cp:lastModifiedBy>Anirban 539</cp:lastModifiedBy>
  <cp:revision>7</cp:revision>
  <dcterms:modified xsi:type="dcterms:W3CDTF">2025-08-02T02:01:59Z</dcterms:modified>
</cp:coreProperties>
</file>