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8229600" cx="14630400"/>
  <p:notesSz cx="8229600" cy="14630400"/>
  <p:embeddedFontLst>
    <p:embeddedFont>
      <p:font typeface="Tomorrow"/>
      <p:regular r:id="rId29"/>
      <p:bold r:id="rId30"/>
      <p:italic r:id="rId31"/>
      <p:boldItalic r:id="rId32"/>
    </p:embeddedFont>
    <p:embeddedFont>
      <p:font typeface="Tomorrow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Tomorrow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Tomorrow-italic.fntdata"/><Relationship Id="rId30" Type="http://schemas.openxmlformats.org/officeDocument/2006/relationships/font" Target="fonts/Tomorrow-bold.fntdata"/><Relationship Id="rId11" Type="http://schemas.openxmlformats.org/officeDocument/2006/relationships/slide" Target="slides/slide7.xml"/><Relationship Id="rId33" Type="http://schemas.openxmlformats.org/officeDocument/2006/relationships/font" Target="fonts/TomorrowSemiBold-regular.fntdata"/><Relationship Id="rId10" Type="http://schemas.openxmlformats.org/officeDocument/2006/relationships/slide" Target="slides/slide6.xml"/><Relationship Id="rId32" Type="http://schemas.openxmlformats.org/officeDocument/2006/relationships/font" Target="fonts/Tomorrow-boldItalic.fntdata"/><Relationship Id="rId13" Type="http://schemas.openxmlformats.org/officeDocument/2006/relationships/slide" Target="slides/slide9.xml"/><Relationship Id="rId35" Type="http://schemas.openxmlformats.org/officeDocument/2006/relationships/font" Target="fonts/TomorrowSemiBold-italic.fntdata"/><Relationship Id="rId12" Type="http://schemas.openxmlformats.org/officeDocument/2006/relationships/slide" Target="slides/slide8.xml"/><Relationship Id="rId34" Type="http://schemas.openxmlformats.org/officeDocument/2006/relationships/font" Target="fonts/TomorrowSemiBold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TomorrowSemiBold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880bbfeb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880bbfeb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9880bbfeb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85b97402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85b97402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985b97402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85b974022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85b974022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85b974022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85b974022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85b974022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985b974022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85b974022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85b974022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985b974022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85b974022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85b974022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85b974022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85b974022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85b974022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985b974022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85b974022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85b974022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85b974022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85b974022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85b974022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85b974022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85b974022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85b974022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85b974022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85b974022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85b974022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985b974022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85549cb92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85549cb92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985549cb92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85549cb92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85549cb92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985549cb92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85549cb92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985549cb92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985549cb92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flask.palletsprojects.com/en/stable/quickstart/#a-minimal-applicatio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631150" y="658416"/>
            <a:ext cx="13368099" cy="288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57" name="Google Shape;57;p13"/>
          <p:cNvSpPr/>
          <p:nvPr/>
        </p:nvSpPr>
        <p:spPr>
          <a:xfrm>
            <a:off x="631150" y="1149906"/>
            <a:ext cx="13368099" cy="288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3613190" y="1709023"/>
            <a:ext cx="7404021" cy="450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785"/>
              </a:lnSpc>
              <a:spcBef>
                <a:spcPts val="0"/>
              </a:spcBef>
              <a:spcAft>
                <a:spcPts val="0"/>
              </a:spcAft>
              <a:buClr>
                <a:srgbClr val="FFA44F"/>
              </a:buClr>
              <a:buSzPts val="2800"/>
              <a:buFont typeface="Tomorrow SemiBold"/>
              <a:buNone/>
            </a:pPr>
            <a:r>
              <a:rPr b="1" i="0" lang="en-US" sz="2800" u="none" cap="none" strike="noStrike">
                <a:solidFill>
                  <a:srgbClr val="FFA44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RAMAKRISNA MISSION VIDYAMANDIRA</a:t>
            </a:r>
            <a:endParaRPr b="0" i="0" sz="2800" u="none" cap="none" strike="noStrike"/>
          </a:p>
        </p:txBody>
      </p:sp>
      <p:pic>
        <p:nvPicPr>
          <p:cNvPr descr="preencoded.png"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9414" y="2633186"/>
            <a:ext cx="2103953" cy="2418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0805" y="2633186"/>
            <a:ext cx="2364462" cy="236446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2524500" y="5524850"/>
            <a:ext cx="9581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7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omorrow SemiBold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SARA - Seat Allocation with Rectangular </a:t>
            </a:r>
            <a:r>
              <a:rPr b="1" lang="en-US" sz="2800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Array</a:t>
            </a:r>
            <a:r>
              <a:rPr b="1" i="0" lang="en-US" sz="28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</a:t>
            </a:r>
            <a:endParaRPr b="0" i="0" sz="280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631150" y="6246138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3" name="Google Shape;63;p13"/>
          <p:cNvSpPr/>
          <p:nvPr/>
        </p:nvSpPr>
        <p:spPr>
          <a:xfrm>
            <a:off x="631150" y="6809542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631150" y="7372945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5" name="Google Shape;65;p13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0377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2428600" y="3176600"/>
            <a:ext cx="9875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Tomorrow SemiBold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The Allocation Challenge</a:t>
            </a:r>
            <a:endParaRPr b="0" i="0" sz="39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29020" y="4139922"/>
            <a:ext cx="13172361" cy="1249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536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050"/>
              <a:buFont typeface="Tomorrow"/>
              <a:buNone/>
            </a:pPr>
            <a:r>
              <a:rPr b="0" i="0" lang="en-US" sz="20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Seating students for examinations remains one of the most complex operational challenges in academic administration. Manually, this allocation is time-consuming, prone to human error, and creates inefficiencies across examination logistics.</a:t>
            </a:r>
            <a:endParaRPr b="0" i="0" sz="20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729020" y="562403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729020" y="619172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29020" y="675941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729020" y="732710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85" name="Google Shape;85;p15" title="inaccura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3650" y="110725"/>
            <a:ext cx="5603099" cy="800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793790" y="1460166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Why This Matters</a:t>
            </a:r>
            <a:endParaRPr b="0" i="0" sz="4450" u="none" cap="none" strike="noStrike"/>
          </a:p>
        </p:txBody>
      </p:sp>
      <p:sp>
        <p:nvSpPr>
          <p:cNvPr id="92" name="Google Shape;92;p16"/>
          <p:cNvSpPr/>
          <p:nvPr/>
        </p:nvSpPr>
        <p:spPr>
          <a:xfrm>
            <a:off x="736275" y="3059953"/>
            <a:ext cx="130428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Redundant</a:t>
            </a:r>
            <a:r>
              <a:rPr lang="en-US" sz="3850">
                <a:solidFill>
                  <a:srgbClr val="F3F3F3"/>
                </a:solidFill>
              </a:rPr>
              <a:t> Exam System .</a:t>
            </a:r>
            <a:endParaRPr sz="3850">
              <a:solidFill>
                <a:srgbClr val="F3F3F3"/>
              </a:solidFill>
            </a:endParaRPr>
          </a:p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Inefficient.</a:t>
            </a:r>
            <a:endParaRPr sz="3850">
              <a:solidFill>
                <a:srgbClr val="F3F3F3"/>
              </a:solidFill>
            </a:endParaRPr>
          </a:p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It is a Matter of headache.</a:t>
            </a:r>
            <a:endParaRPr sz="3850">
              <a:solidFill>
                <a:srgbClr val="F3F3F3"/>
              </a:solidFill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7171625" y="3035250"/>
            <a:ext cx="2854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35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Introducing</a:t>
            </a:r>
            <a:endParaRPr b="0" i="0" sz="3550" u="none" cap="none" strike="noStrike"/>
          </a:p>
        </p:txBody>
      </p:sp>
      <p:sp>
        <p:nvSpPr>
          <p:cNvPr id="100" name="Google Shape;100;p17"/>
          <p:cNvSpPr/>
          <p:nvPr/>
        </p:nvSpPr>
        <p:spPr>
          <a:xfrm>
            <a:off x="7133950" y="3536850"/>
            <a:ext cx="32262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83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SARA</a:t>
            </a:r>
            <a:endParaRPr b="0" i="0" sz="5650" u="none" cap="none" strike="noStrike"/>
          </a:p>
        </p:txBody>
      </p:sp>
      <p:sp>
        <p:nvSpPr>
          <p:cNvPr id="101" name="Google Shape;101;p17"/>
          <p:cNvSpPr/>
          <p:nvPr/>
        </p:nvSpPr>
        <p:spPr>
          <a:xfrm>
            <a:off x="7171649" y="4831350"/>
            <a:ext cx="3226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Intelligent. Efficient. Reliable.</a:t>
            </a:r>
            <a:endParaRPr b="0" i="0" sz="1750" u="none" cap="none" strike="noStrike"/>
          </a:p>
        </p:txBody>
      </p:sp>
      <p:sp>
        <p:nvSpPr>
          <p:cNvPr id="102" name="Google Shape;102;p17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03" name="Google Shape;103;p17" title="SARA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550" y="3035250"/>
            <a:ext cx="2159100" cy="21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793790" y="68151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How </a:t>
            </a: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It</a:t>
            </a: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Works</a:t>
            </a:r>
            <a:endParaRPr b="0" i="0" sz="4450" u="none" cap="none" strike="noStrike"/>
          </a:p>
        </p:txBody>
      </p:sp>
      <p:sp>
        <p:nvSpPr>
          <p:cNvPr id="110" name="Google Shape;110;p18"/>
          <p:cNvSpPr/>
          <p:nvPr/>
        </p:nvSpPr>
        <p:spPr>
          <a:xfrm>
            <a:off x="793804" y="199574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Data Input</a:t>
            </a:r>
            <a:endParaRPr b="0" i="0" sz="2200" u="none" cap="none" strike="noStrike"/>
          </a:p>
        </p:txBody>
      </p:sp>
      <p:sp>
        <p:nvSpPr>
          <p:cNvPr id="111" name="Google Shape;111;p18"/>
          <p:cNvSpPr/>
          <p:nvPr/>
        </p:nvSpPr>
        <p:spPr>
          <a:xfrm>
            <a:off x="1778650" y="3389925"/>
            <a:ext cx="37872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Constraint analysis with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client side scripting</a:t>
            </a:r>
            <a:endParaRPr b="0" i="0" sz="2200" u="none" cap="none" strike="noStrike"/>
          </a:p>
        </p:txBody>
      </p:sp>
      <p:sp>
        <p:nvSpPr>
          <p:cNvPr id="112" name="Google Shape;112;p18"/>
          <p:cNvSpPr/>
          <p:nvPr/>
        </p:nvSpPr>
        <p:spPr>
          <a:xfrm>
            <a:off x="793800" y="5225228"/>
            <a:ext cx="41151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Allocating seat in a rectangular 2D array</a:t>
            </a:r>
            <a:endParaRPr b="0" i="0" sz="2200" u="none" cap="none" strike="noStrike"/>
          </a:p>
        </p:txBody>
      </p:sp>
      <p:sp>
        <p:nvSpPr>
          <p:cNvPr id="113" name="Google Shape;113;p18"/>
          <p:cNvSpPr/>
          <p:nvPr/>
        </p:nvSpPr>
        <p:spPr>
          <a:xfrm>
            <a:off x="2612350" y="7060555"/>
            <a:ext cx="29535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Verification &amp; Export</a:t>
            </a:r>
            <a:endParaRPr b="0" i="0" sz="2200" u="none" cap="none" strike="noStrike"/>
          </a:p>
        </p:txBody>
      </p:sp>
      <p:pic>
        <p:nvPicPr>
          <p:cNvPr id="114" name="Google Shape;114;p18" title="Untitled diagram-2025-10-29-1151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6925" y="114300"/>
            <a:ext cx="8439173" cy="8000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18"/>
          <p:cNvCxnSpPr>
            <a:stCxn id="110" idx="2"/>
            <a:endCxn id="111" idx="0"/>
          </p:cNvCxnSpPr>
          <p:nvPr/>
        </p:nvCxnSpPr>
        <p:spPr>
          <a:xfrm flipH="1" rot="-5400000">
            <a:off x="2421904" y="2139592"/>
            <a:ext cx="1039800" cy="14607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16" name="Google Shape;116;p18"/>
          <p:cNvCxnSpPr>
            <a:stCxn id="111" idx="2"/>
            <a:endCxn id="112" idx="0"/>
          </p:cNvCxnSpPr>
          <p:nvPr/>
        </p:nvCxnSpPr>
        <p:spPr>
          <a:xfrm rot="5400000">
            <a:off x="2727250" y="4280325"/>
            <a:ext cx="1069200" cy="820800"/>
          </a:xfrm>
          <a:prstGeom prst="curvedConnector3">
            <a:avLst>
              <a:gd fmla="val 49995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17" name="Google Shape;117;p18"/>
          <p:cNvCxnSpPr>
            <a:stCxn id="112" idx="2"/>
            <a:endCxn id="113" idx="0"/>
          </p:cNvCxnSpPr>
          <p:nvPr/>
        </p:nvCxnSpPr>
        <p:spPr>
          <a:xfrm flipH="1" rot="-5400000">
            <a:off x="2935650" y="5907128"/>
            <a:ext cx="1069200" cy="12378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9383923" y="831500"/>
            <a:ext cx="462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FRONTEND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Architecture</a:t>
            </a:r>
            <a:endParaRPr b="0" i="0" sz="4450" u="none" cap="none" strike="noStrike"/>
          </a:p>
        </p:txBody>
      </p:sp>
      <p:pic>
        <p:nvPicPr>
          <p:cNvPr id="125" name="Google Shape;125;p19" title="FRONTeNDp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00" y="831488"/>
            <a:ext cx="8173150" cy="656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9383925" y="2777100"/>
            <a:ext cx="62442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provides the way to database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takes input for seat allocation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verify the logical validity of 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input  data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sends the data to the BACKEND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33" name="Google Shape;133;p20" title="Screenshot from 2025-10-30 17-25-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963" y="268800"/>
            <a:ext cx="13636474" cy="76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40" name="Google Shape;140;p21" title="Screenshot from 2025-11-01 10-43-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00" y="205750"/>
            <a:ext cx="14252674" cy="781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47" name="Google Shape;147;p22" title="Screenshot from 2025-10-30 17-27-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54" name="Google Shape;154;p23" title="Screenshot from 2025-10-30 17-28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61" name="Google Shape;161;p24" title="Screenshot from 2025-10-30 17-45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038" y="172713"/>
            <a:ext cx="14016326" cy="788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68" name="Google Shape;168;p25" title="Screenshot from 2025-10-30 17-30-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75" name="Google Shape;175;p26" title="Screenshot from 2025-10-30 17-30-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82" name="Google Shape;182;p27" title="Screenshot from 2025-10-30 17-31-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89" name="Google Shape;189;p28" title="Screenshot from 2025-10-30 17-31-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96" name="Google Shape;196;p29" title="Screenshot from 2025-10-30 17-31-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610998" y="1567163"/>
            <a:ext cx="462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BACK</a:t>
            </a: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END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Architecture</a:t>
            </a:r>
            <a:endParaRPr b="0" i="0" sz="4450" u="none" cap="none" strike="noStrike"/>
          </a:p>
        </p:txBody>
      </p:sp>
      <p:sp>
        <p:nvSpPr>
          <p:cNvPr id="204" name="Google Shape;204;p30"/>
          <p:cNvSpPr/>
          <p:nvPr/>
        </p:nvSpPr>
        <p:spPr>
          <a:xfrm>
            <a:off x="611000" y="3512763"/>
            <a:ext cx="51330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After getting all inputs, it Allocates seat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convert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the data into pdf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provide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the pdf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Also changes the database table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205" name="Google Shape;205;p30" title="Untitled diagram-2025-10-29-1151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7625" y="224425"/>
            <a:ext cx="8448276" cy="7730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212" name="Google Shape;212;p31"/>
          <p:cNvSpPr/>
          <p:nvPr/>
        </p:nvSpPr>
        <p:spPr>
          <a:xfrm>
            <a:off x="912312" y="615875"/>
            <a:ext cx="12805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DATABASE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t/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213" name="Google Shape;213;p31" title="DATAB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38" y="2157386"/>
            <a:ext cx="12600526" cy="39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/>
          <p:nvPr/>
        </p:nvSpPr>
        <p:spPr>
          <a:xfrm>
            <a:off x="793790" y="651153"/>
            <a:ext cx="589490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Future Scope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t/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793800" y="1819438"/>
            <a:ext cx="51330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Introducing other entities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Increasing security and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encryption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Dynamic Subject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according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to database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221" name="Google Shape;221;p32" title="futureScop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924" y="717926"/>
            <a:ext cx="6793750" cy="679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793802" y="651150"/>
            <a:ext cx="3492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Tools</a:t>
            </a:r>
            <a:endParaRPr b="0" i="0" sz="4450" u="none" cap="none" strike="noStrike"/>
          </a:p>
        </p:txBody>
      </p:sp>
      <p:sp>
        <p:nvSpPr>
          <p:cNvPr id="230" name="Google Shape;230;p33"/>
          <p:cNvSpPr/>
          <p:nvPr/>
        </p:nvSpPr>
        <p:spPr>
          <a:xfrm>
            <a:off x="793800" y="3323900"/>
            <a:ext cx="13176300" cy="22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Visual Studio Code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LLMs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flask: </a:t>
            </a:r>
            <a:r>
              <a:rPr b="1" lang="en-US" sz="2200" u="sng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https://flask.palletsprojects.com/en/stable/quickstart/#a-minimal-application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Javascript,HTML, CSS, MYSQL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/>
          <p:nvPr/>
        </p:nvSpPr>
        <p:spPr>
          <a:xfrm>
            <a:off x="4737613" y="474101"/>
            <a:ext cx="51552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050"/>
              <a:buFont typeface="Tomorrow SemiBold"/>
              <a:buNone/>
            </a:pPr>
            <a:r>
              <a:rPr b="1" lang="en-US" sz="40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Acknowledgement</a:t>
            </a:r>
            <a:endParaRPr b="0" i="0" sz="4050" u="none" cap="none" strike="noStrike"/>
          </a:p>
        </p:txBody>
      </p:sp>
      <p:pic>
        <p:nvPicPr>
          <p:cNvPr id="237" name="Google Shape;237;p34" title="acknoledge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163" y="3048000"/>
            <a:ext cx="132501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/>
          <p:nvPr/>
        </p:nvSpPr>
        <p:spPr>
          <a:xfrm>
            <a:off x="525215" y="480693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Our Team</a:t>
            </a:r>
            <a:endParaRPr b="0" i="0" sz="4450" u="none" cap="none" strike="noStrike"/>
          </a:p>
        </p:txBody>
      </p:sp>
      <p:pic>
        <p:nvPicPr>
          <p:cNvPr id="245" name="Google Shape;245;p35" title="devte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25" y="1595200"/>
            <a:ext cx="14341950" cy="51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5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/>
          <p:nvPr/>
        </p:nvSpPr>
        <p:spPr>
          <a:xfrm>
            <a:off x="5138700" y="5869050"/>
            <a:ext cx="43530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8900"/>
              <a:buFont typeface="Tomorrow SemiBold"/>
              <a:buNone/>
            </a:pPr>
            <a:r>
              <a:rPr b="1" i="0" lang="en-US" sz="62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Thank You</a:t>
            </a:r>
            <a:endParaRPr b="0" i="0" sz="6200" u="none" cap="none" strike="noStrike"/>
          </a:p>
        </p:txBody>
      </p:sp>
      <p:pic>
        <p:nvPicPr>
          <p:cNvPr id="253" name="Google Shape;253;p36" title="rasa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062" y="1266100"/>
            <a:ext cx="4408275" cy="44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6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